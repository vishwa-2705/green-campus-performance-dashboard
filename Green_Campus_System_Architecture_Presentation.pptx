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latin typeface="Times New Roman" panose="02020603050405020304" pitchFamily="18" charset="0"/>
                <a:cs typeface="Times New Roman" panose="02020603050405020304" pitchFamily="18" charset="0"/>
              </a:rPr>
              <a:t>Green Campus Performance Dashboard</a:t>
            </a:r>
          </a:p>
        </p:txBody>
      </p:sp>
      <p:sp>
        <p:nvSpPr>
          <p:cNvPr id="3" name="Subtitle 2"/>
          <p:cNvSpPr>
            <a:spLocks noGrp="1"/>
          </p:cNvSpPr>
          <p:nvPr>
            <p:ph type="subTitle" idx="1"/>
          </p:nvPr>
        </p:nvSpPr>
        <p:spPr/>
        <p:txBody>
          <a:bodyPr/>
          <a:lstStyle/>
          <a:p>
            <a:r>
              <a:rPr dirty="0">
                <a:latin typeface="Times New Roman" panose="02020603050405020304" pitchFamily="18" charset="0"/>
                <a:cs typeface="Times New Roman" panose="02020603050405020304" pitchFamily="18" charset="0"/>
              </a:rPr>
              <a:t>System Architecture &amp; Flow Presentation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Aim</a:t>
            </a:r>
          </a:p>
        </p:txBody>
      </p:sp>
      <p:sp>
        <p:nvSpPr>
          <p:cNvPr id="5" name="Rectangle 2"/>
          <p:cNvSpPr>
            <a:spLocks noGrp="1" noChangeArrowheads="1"/>
          </p:cNvSpPr>
          <p:nvPr>
            <p:ph idx="1"/>
          </p:nvPr>
        </p:nvSpPr>
        <p:spPr bwMode="auto">
          <a:xfrm>
            <a:off x="295274" y="1332032"/>
            <a:ext cx="8503285"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design and develop a web-based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Green Campus Performance Dashboard</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monitoring sustainability metrics.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track and analyze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Energy, Water, and Waste consumption</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within the campus environment.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promote environmental awareness and sustainable decision-making using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data visualization</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implement a modern full-stack architecture using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React (Frontend), Flask (Backend), and MongoDB (Database)</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build a scalable, secure, and efficient system for long-term environmental monitoring and reporting.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Objectives</a:t>
            </a:r>
          </a:p>
        </p:txBody>
      </p:sp>
      <p:sp>
        <p:nvSpPr>
          <p:cNvPr id="7" name="Rectangle 4"/>
          <p:cNvSpPr>
            <a:spLocks noGrp="1" noChangeArrowheads="1"/>
          </p:cNvSpPr>
          <p:nvPr>
            <p:ph idx="1"/>
          </p:nvPr>
        </p:nvSpPr>
        <p:spPr bwMode="auto">
          <a:xfrm>
            <a:off x="457200" y="1601024"/>
            <a:ext cx="83718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 a responsive and interactive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React dashboard</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with charts, value cards, tables, and alerts.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Implement secure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RESTful APIs using Flask</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handling data requests and responses.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Store structured sustainability data efficiently using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MongoDB NoSQL database</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Enable smooth communication between frontend and backend using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HTTP requests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role-based access control</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(Admin/User authentication).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Ensure real-time data updates using JSON-based API responses.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Improve institutional decision-making through </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data-driven insights and visual analytics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anose="02020603050405020304" pitchFamily="18" charset="0"/>
                <a:cs typeface="Times New Roman" panose="02020603050405020304" pitchFamily="18" charset="0"/>
              </a:rPr>
              <a:t>Project</a:t>
            </a:r>
            <a:r>
              <a:rPr dirty="0" smtClean="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Overview</a:t>
            </a:r>
          </a:p>
        </p:txBody>
      </p:sp>
      <p:sp>
        <p:nvSpPr>
          <p:cNvPr id="4" name="Rectangle 1"/>
          <p:cNvSpPr>
            <a:spLocks noGrp="1" noChangeArrowheads="1"/>
          </p:cNvSpPr>
          <p:nvPr>
            <p:ph idx="1"/>
          </p:nvPr>
        </p:nvSpPr>
        <p:spPr bwMode="auto">
          <a:xfrm>
            <a:off x="457200" y="2008827"/>
            <a:ext cx="7985760" cy="3708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GB" sz="2500" dirty="0">
                <a:latin typeface="Times New Roman" panose="02020603050405020304" pitchFamily="18" charset="0"/>
                <a:cs typeface="Times New Roman" panose="02020603050405020304" pitchFamily="18" charset="0"/>
              </a:rPr>
              <a:t>The </a:t>
            </a:r>
            <a:r>
              <a:rPr lang="en-GB" sz="2500" b="1" dirty="0">
                <a:latin typeface="Times New Roman" panose="02020603050405020304" pitchFamily="18" charset="0"/>
                <a:cs typeface="Times New Roman" panose="02020603050405020304" pitchFamily="18" charset="0"/>
              </a:rPr>
              <a:t>Green Campus Performance Dashboard</a:t>
            </a:r>
            <a:r>
              <a:rPr lang="en-GB" sz="2500" dirty="0">
                <a:latin typeface="Times New Roman" panose="02020603050405020304" pitchFamily="18" charset="0"/>
                <a:cs typeface="Times New Roman" panose="02020603050405020304" pitchFamily="18" charset="0"/>
              </a:rPr>
              <a:t> is a full-stack web application that monitors </a:t>
            </a:r>
            <a:r>
              <a:rPr lang="en-GB" sz="2500" b="1" dirty="0">
                <a:latin typeface="Times New Roman" panose="02020603050405020304" pitchFamily="18" charset="0"/>
                <a:cs typeface="Times New Roman" panose="02020603050405020304" pitchFamily="18" charset="0"/>
              </a:rPr>
              <a:t>Energy, Water, and Waste</a:t>
            </a:r>
            <a:r>
              <a:rPr lang="en-GB" sz="2500" dirty="0">
                <a:latin typeface="Times New Roman" panose="02020603050405020304" pitchFamily="18" charset="0"/>
                <a:cs typeface="Times New Roman" panose="02020603050405020304" pitchFamily="18" charset="0"/>
              </a:rPr>
              <a:t> data within a campus.</a:t>
            </a:r>
          </a:p>
          <a:p>
            <a:pPr algn="just"/>
            <a:r>
              <a:rPr lang="en-GB" sz="2500" dirty="0">
                <a:latin typeface="Times New Roman" panose="02020603050405020304" pitchFamily="18" charset="0"/>
                <a:cs typeface="Times New Roman" panose="02020603050405020304" pitchFamily="18" charset="0"/>
              </a:rPr>
              <a:t>It uses </a:t>
            </a:r>
            <a:r>
              <a:rPr lang="en-GB" sz="2500" b="1" dirty="0">
                <a:latin typeface="Times New Roman" panose="02020603050405020304" pitchFamily="18" charset="0"/>
                <a:cs typeface="Times New Roman" panose="02020603050405020304" pitchFamily="18" charset="0"/>
              </a:rPr>
              <a:t>React</a:t>
            </a:r>
            <a:r>
              <a:rPr lang="en-GB" sz="2500" dirty="0">
                <a:latin typeface="Times New Roman" panose="02020603050405020304" pitchFamily="18" charset="0"/>
                <a:cs typeface="Times New Roman" panose="02020603050405020304" pitchFamily="18" charset="0"/>
              </a:rPr>
              <a:t> for the frontend dashboard, </a:t>
            </a:r>
            <a:r>
              <a:rPr lang="en-GB" sz="2500" b="1" dirty="0">
                <a:latin typeface="Times New Roman" panose="02020603050405020304" pitchFamily="18" charset="0"/>
                <a:cs typeface="Times New Roman" panose="02020603050405020304" pitchFamily="18" charset="0"/>
              </a:rPr>
              <a:t>Flask</a:t>
            </a:r>
            <a:r>
              <a:rPr lang="en-GB" sz="2500" dirty="0">
                <a:latin typeface="Times New Roman" panose="02020603050405020304" pitchFamily="18" charset="0"/>
                <a:cs typeface="Times New Roman" panose="02020603050405020304" pitchFamily="18" charset="0"/>
              </a:rPr>
              <a:t> for the REST API backend, and </a:t>
            </a:r>
            <a:r>
              <a:rPr lang="en-GB" sz="2500" b="1" dirty="0">
                <a:latin typeface="Times New Roman" panose="02020603050405020304" pitchFamily="18" charset="0"/>
                <a:cs typeface="Times New Roman" panose="02020603050405020304" pitchFamily="18" charset="0"/>
              </a:rPr>
              <a:t>MongoDB</a:t>
            </a:r>
            <a:r>
              <a:rPr lang="en-GB" sz="2500" dirty="0">
                <a:latin typeface="Times New Roman" panose="02020603050405020304" pitchFamily="18" charset="0"/>
                <a:cs typeface="Times New Roman" panose="02020603050405020304" pitchFamily="18" charset="0"/>
              </a:rPr>
              <a:t> for data storage.</a:t>
            </a:r>
          </a:p>
          <a:p>
            <a:pPr algn="just"/>
            <a:r>
              <a:rPr lang="en-GB" sz="2500" dirty="0">
                <a:latin typeface="Times New Roman" panose="02020603050405020304" pitchFamily="18" charset="0"/>
                <a:cs typeface="Times New Roman" panose="02020603050405020304" pitchFamily="18" charset="0"/>
              </a:rPr>
              <a:t>Users interact with the dashboard, which sends HTTP requests to the backend. The backend retrieves data from the database and returns it as JSON, allowing the dashboard to update charts, cards, and alerts dynamically.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System Architecture Flow</a:t>
            </a:r>
          </a:p>
        </p:txBody>
      </p:sp>
      <p:sp>
        <p:nvSpPr>
          <p:cNvPr id="3" name="TextBox 2"/>
          <p:cNvSpPr txBox="1"/>
          <p:nvPr/>
        </p:nvSpPr>
        <p:spPr>
          <a:xfrm>
            <a:off x="914400" y="1371600"/>
            <a:ext cx="7315200" cy="4247317"/>
          </a:xfrm>
          <a:prstGeom prst="rect">
            <a:avLst/>
          </a:prstGeom>
          <a:noFill/>
        </p:spPr>
        <p:txBody>
          <a:bodyPr wrap="square">
            <a:spAutoFit/>
          </a:bodyPr>
          <a:lstStyle/>
          <a:p>
            <a:pPr algn="ctr"/>
            <a:r>
              <a:rPr dirty="0">
                <a:latin typeface="Times New Roman" panose="02020603050405020304" pitchFamily="18" charset="0"/>
                <a:cs typeface="Times New Roman" panose="02020603050405020304" pitchFamily="18" charset="0"/>
              </a:rPr>
              <a:t>User (Admin/User)</a:t>
            </a:r>
          </a:p>
          <a:p>
            <a:pPr algn="ctr"/>
            <a:r>
              <a:rPr dirty="0">
                <a:latin typeface="Times New Roman" panose="02020603050405020304" pitchFamily="18" charset="0"/>
                <a:cs typeface="Times New Roman" panose="02020603050405020304" pitchFamily="18" charset="0"/>
              </a:rPr>
              <a:t>   │</a:t>
            </a:r>
          </a:p>
          <a:p>
            <a:pPr algn="ctr"/>
            <a:r>
              <a:rPr dirty="0">
                <a:latin typeface="Times New Roman" panose="02020603050405020304" pitchFamily="18" charset="0"/>
                <a:cs typeface="Times New Roman" panose="02020603050405020304" pitchFamily="18" charset="0"/>
              </a:rPr>
              <a:t>   ▼</a:t>
            </a:r>
          </a:p>
          <a:p>
            <a:pPr algn="ctr"/>
            <a:r>
              <a:rPr dirty="0">
                <a:latin typeface="Times New Roman" panose="02020603050405020304" pitchFamily="18" charset="0"/>
                <a:cs typeface="Times New Roman" panose="02020603050405020304" pitchFamily="18" charset="0"/>
              </a:rPr>
              <a:t>React Dashboard (Frontend)</a:t>
            </a:r>
          </a:p>
          <a:p>
            <a:pPr algn="ctr"/>
            <a:r>
              <a:rPr dirty="0">
                <a:latin typeface="Times New Roman" panose="02020603050405020304" pitchFamily="18" charset="0"/>
                <a:cs typeface="Times New Roman" panose="02020603050405020304" pitchFamily="18" charset="0"/>
              </a:rPr>
              <a:t>   │ HTTP Request </a:t>
            </a:r>
          </a:p>
          <a:p>
            <a:pPr algn="ctr"/>
            <a:r>
              <a:rPr dirty="0">
                <a:latin typeface="Times New Roman" panose="02020603050405020304" pitchFamily="18" charset="0"/>
                <a:cs typeface="Times New Roman" panose="02020603050405020304" pitchFamily="18" charset="0"/>
              </a:rPr>
              <a:t>   ▼</a:t>
            </a:r>
          </a:p>
          <a:p>
            <a:pPr algn="ctr"/>
            <a:r>
              <a:rPr dirty="0">
                <a:latin typeface="Times New Roman" panose="02020603050405020304" pitchFamily="18" charset="0"/>
                <a:cs typeface="Times New Roman" panose="02020603050405020304" pitchFamily="18" charset="0"/>
              </a:rPr>
              <a:t>Flask REST API Server</a:t>
            </a:r>
          </a:p>
          <a:p>
            <a:pPr algn="ctr"/>
            <a:r>
              <a:rPr dirty="0">
                <a:latin typeface="Times New Roman" panose="02020603050405020304" pitchFamily="18" charset="0"/>
                <a:cs typeface="Times New Roman" panose="02020603050405020304" pitchFamily="18" charset="0"/>
              </a:rPr>
              <a:t>   │ Query</a:t>
            </a:r>
          </a:p>
          <a:p>
            <a:pPr algn="ctr"/>
            <a:r>
              <a:rPr dirty="0">
                <a:latin typeface="Times New Roman" panose="02020603050405020304" pitchFamily="18" charset="0"/>
                <a:cs typeface="Times New Roman" panose="02020603050405020304" pitchFamily="18" charset="0"/>
              </a:rPr>
              <a:t>   ▼</a:t>
            </a:r>
          </a:p>
          <a:p>
            <a:pPr algn="ctr"/>
            <a:r>
              <a:rPr dirty="0">
                <a:latin typeface="Times New Roman" panose="02020603050405020304" pitchFamily="18" charset="0"/>
                <a:cs typeface="Times New Roman" panose="02020603050405020304" pitchFamily="18" charset="0"/>
              </a:rPr>
              <a:t>MongoDB Database</a:t>
            </a:r>
          </a:p>
          <a:p>
            <a:pPr algn="ctr"/>
            <a:r>
              <a:rPr dirty="0">
                <a:latin typeface="Times New Roman" panose="02020603050405020304" pitchFamily="18" charset="0"/>
                <a:cs typeface="Times New Roman" panose="02020603050405020304" pitchFamily="18" charset="0"/>
              </a:rPr>
              <a:t>   │ JSON Response</a:t>
            </a:r>
          </a:p>
          <a:p>
            <a:pPr algn="ctr"/>
            <a:r>
              <a:rPr dirty="0">
                <a:latin typeface="Times New Roman" panose="02020603050405020304" pitchFamily="18" charset="0"/>
                <a:cs typeface="Times New Roman" panose="02020603050405020304" pitchFamily="18" charset="0"/>
              </a:rPr>
              <a:t>   ▼</a:t>
            </a:r>
          </a:p>
          <a:p>
            <a:pPr algn="ctr"/>
            <a:r>
              <a:rPr dirty="0">
                <a:latin typeface="Times New Roman" panose="02020603050405020304" pitchFamily="18" charset="0"/>
                <a:cs typeface="Times New Roman" panose="02020603050405020304" pitchFamily="18" charset="0"/>
              </a:rPr>
              <a:t>Flask API</a:t>
            </a:r>
          </a:p>
          <a:p>
            <a:pPr algn="ctr"/>
            <a:r>
              <a:rPr dirty="0">
                <a:latin typeface="Times New Roman" panose="02020603050405020304" pitchFamily="18" charset="0"/>
                <a:cs typeface="Times New Roman" panose="02020603050405020304" pitchFamily="18" charset="0"/>
              </a:rPr>
              <a:t>   ▼</a:t>
            </a:r>
          </a:p>
          <a:p>
            <a:pPr algn="ctr"/>
            <a:r>
              <a:rPr dirty="0">
                <a:latin typeface="Times New Roman" panose="02020603050405020304" pitchFamily="18" charset="0"/>
                <a:cs typeface="Times New Roman" panose="02020603050405020304" pitchFamily="18" charset="0"/>
              </a:rPr>
              <a:t>React Dashboard Updates Charts, Cards &amp; Alerts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6319"/>
            <a:ext cx="9144000" cy="4805362"/>
          </a:xfrm>
          <a:prstGeom prst="rect">
            <a:avLst/>
          </a:prstGeom>
        </p:spPr>
      </p:pic>
    </p:spTree>
    <p:extLst>
      <p:ext uri="{BB962C8B-B14F-4D97-AF65-F5344CB8AC3E}">
        <p14:creationId xmlns:p14="http://schemas.microsoft.com/office/powerpoint/2010/main" val="35510048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7750"/>
            <a:ext cx="9144000" cy="4762500"/>
          </a:xfrm>
          <a:prstGeom prst="rect">
            <a:avLst/>
          </a:prstGeom>
        </p:spPr>
      </p:pic>
    </p:spTree>
    <p:extLst>
      <p:ext uri="{BB962C8B-B14F-4D97-AF65-F5344CB8AC3E}">
        <p14:creationId xmlns:p14="http://schemas.microsoft.com/office/powerpoint/2010/main" val="2045274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TotalTime>
  <Words>307</Words>
  <Application>Microsoft Office PowerPoint</Application>
  <PresentationFormat>On-screen Show (4:3)</PresentationFormat>
  <Paragraphs>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Green Campus Performance Dashboard</vt:lpstr>
      <vt:lpstr>Aim</vt:lpstr>
      <vt:lpstr>Objectives</vt:lpstr>
      <vt:lpstr>Project Overview</vt:lpstr>
      <vt:lpstr>System Architecture Flow</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Campus Performance Dashboard</dc:title>
  <dc:subject/>
  <dc:creator/>
  <cp:keywords/>
  <dc:description>generated using python-pptx</dc:description>
  <cp:lastModifiedBy>HP</cp:lastModifiedBy>
  <cp:revision>5</cp:revision>
  <dcterms:created xsi:type="dcterms:W3CDTF">2013-01-27T09:14:16Z</dcterms:created>
  <dcterms:modified xsi:type="dcterms:W3CDTF">2026-02-12T08:16:11Z</dcterms:modified>
  <cp:category/>
</cp:coreProperties>
</file>