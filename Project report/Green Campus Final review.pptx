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2993447-EED2-430A-9104-5B1019216223}">
  <a:tblStyle styleId="{C2993447-EED2-430A-9104-5B1019216223}"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b="off" i="off"/>
      <a:tcStyle>
        <a:tcBdr/>
        <a:fill>
          <a:solidFill>
            <a:srgbClr val="D0DEEF"/>
          </a:solidFill>
        </a:fill>
      </a:tcStyle>
    </a:band1H>
    <a:band2H>
      <a:tcTxStyle b="off" i="off"/>
      <a:tcStyle>
        <a:tcBdr/>
      </a:tcStyle>
    </a:band2H>
    <a:band1V>
      <a:tcTxStyle b="off" i="off"/>
      <a:tcStyle>
        <a:tcBdr/>
        <a:fill>
          <a:solidFill>
            <a:srgbClr val="D0DEEF"/>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780"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 name="Google Shape;9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 name="Google Shape;10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 name="Google Shape;11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 name="Google Shape;12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4" name="Google Shape;13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3" name="Google Shape;14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 name="Google Shape;15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1" name="Google Shape;16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0" name="Google Shape;17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 name="Google Shape;17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8" name="Google Shape;188;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7" name="Google Shape;197;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6" name="Google Shape;206;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e00b4a2708_0_1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3e00b4a2708_0_10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g3e00b4a2708_0_10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ctrTitle"/>
          </p:nvPr>
        </p:nvSpPr>
        <p:spPr>
          <a:xfrm>
            <a:off x="1836032" y="1236704"/>
            <a:ext cx="9144000" cy="1007377"/>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chemeClr val="dk1"/>
              </a:buClr>
              <a:buSzPts val="1800"/>
              <a:buFont typeface="Cambria"/>
              <a:buNone/>
            </a:pPr>
            <a:r>
              <a:rPr lang="en-US" sz="1800" b="1">
                <a:latin typeface="Cambria"/>
                <a:ea typeface="Cambria"/>
                <a:cs typeface="Cambria"/>
                <a:sym typeface="Cambria"/>
              </a:rPr>
              <a:t>Academic Year 2025 - 26</a:t>
            </a:r>
            <a:br>
              <a:rPr lang="en-US" sz="1800" b="1">
                <a:latin typeface="Cambria"/>
                <a:ea typeface="Cambria"/>
                <a:cs typeface="Cambria"/>
                <a:sym typeface="Cambria"/>
              </a:rPr>
            </a:br>
            <a:r>
              <a:rPr lang="en-US" sz="1800" b="1">
                <a:solidFill>
                  <a:srgbClr val="C00000"/>
                </a:solidFill>
                <a:latin typeface="Cambria"/>
                <a:ea typeface="Cambria"/>
                <a:cs typeface="Cambria"/>
                <a:sym typeface="Cambria"/>
              </a:rPr>
              <a:t>S6  MINI PROJECT - II</a:t>
            </a:r>
            <a:br>
              <a:rPr lang="en-US" sz="1800" b="1">
                <a:solidFill>
                  <a:srgbClr val="C00000"/>
                </a:solidFill>
                <a:latin typeface="Cambria"/>
                <a:ea typeface="Cambria"/>
                <a:cs typeface="Cambria"/>
                <a:sym typeface="Cambria"/>
              </a:rPr>
            </a:br>
            <a:r>
              <a:rPr lang="en-US" sz="1800" b="1">
                <a:latin typeface="Cambria"/>
                <a:ea typeface="Cambria"/>
                <a:cs typeface="Cambria"/>
                <a:sym typeface="Cambria"/>
              </a:rPr>
              <a:t>Final Review </a:t>
            </a:r>
            <a:endParaRPr sz="1800" b="1">
              <a:latin typeface="Cambria"/>
              <a:ea typeface="Cambria"/>
              <a:cs typeface="Cambria"/>
              <a:sym typeface="Cambria"/>
            </a:endParaRPr>
          </a:p>
        </p:txBody>
      </p:sp>
      <p:sp>
        <p:nvSpPr>
          <p:cNvPr id="89" name="Google Shape;89;p13"/>
          <p:cNvSpPr txBox="1">
            <a:spLocks noGrp="1"/>
          </p:cNvSpPr>
          <p:nvPr>
            <p:ph type="subTitle" idx="1"/>
          </p:nvPr>
        </p:nvSpPr>
        <p:spPr>
          <a:xfrm>
            <a:off x="1836025" y="2376798"/>
            <a:ext cx="9144000" cy="6465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385623"/>
              </a:buClr>
              <a:buSzPts val="2400"/>
              <a:buNone/>
            </a:pPr>
            <a:r>
              <a:rPr lang="en-US" b="1" dirty="0" smtClean="0">
                <a:solidFill>
                  <a:srgbClr val="385623"/>
                </a:solidFill>
                <a:latin typeface="Cambria"/>
                <a:ea typeface="Cambria"/>
                <a:cs typeface="Cambria"/>
                <a:sym typeface="Cambria"/>
              </a:rPr>
              <a:t>GREEN CAMPUS</a:t>
            </a:r>
            <a:r>
              <a:rPr lang="en-GB" b="1" dirty="0" smtClean="0">
                <a:solidFill>
                  <a:srgbClr val="385623"/>
                </a:solidFill>
                <a:latin typeface="Cambria"/>
                <a:ea typeface="Cambria"/>
                <a:cs typeface="Cambria"/>
                <a:sym typeface="Cambria"/>
              </a:rPr>
              <a:t> PERFORMANCE DASHBOARD</a:t>
            </a:r>
            <a:endParaRPr b="1" dirty="0">
              <a:latin typeface="Cambria"/>
              <a:ea typeface="Cambria"/>
              <a:cs typeface="Cambria"/>
              <a:sym typeface="Cambria"/>
            </a:endParaRPr>
          </a:p>
        </p:txBody>
      </p:sp>
      <p:pic>
        <p:nvPicPr>
          <p:cNvPr id="90" name="Google Shape;90;p13"/>
          <p:cNvPicPr preferRelativeResize="0"/>
          <p:nvPr/>
        </p:nvPicPr>
        <p:blipFill rotWithShape="1">
          <a:blip r:embed="rId3">
            <a:alphaModFix/>
          </a:blip>
          <a:srcRect/>
          <a:stretch/>
        </p:blipFill>
        <p:spPr>
          <a:xfrm>
            <a:off x="2244435" y="0"/>
            <a:ext cx="7675419" cy="1308626"/>
          </a:xfrm>
          <a:prstGeom prst="rect">
            <a:avLst/>
          </a:prstGeom>
          <a:noFill/>
          <a:ln>
            <a:noFill/>
          </a:ln>
        </p:spPr>
      </p:pic>
      <p:sp>
        <p:nvSpPr>
          <p:cNvPr id="91" name="Google Shape;91;p13"/>
          <p:cNvSpPr txBox="1"/>
          <p:nvPr/>
        </p:nvSpPr>
        <p:spPr>
          <a:xfrm>
            <a:off x="180109" y="5153889"/>
            <a:ext cx="5226900" cy="1413300"/>
          </a:xfrm>
          <a:prstGeom prst="rect">
            <a:avLst/>
          </a:prstGeom>
          <a:noFill/>
          <a:ln>
            <a:noFill/>
          </a:ln>
        </p:spPr>
        <p:txBody>
          <a:bodyPr spcFirstLastPara="1" wrap="square" lIns="91425" tIns="45700" rIns="91425" bIns="45700" anchor="t" anchorCtr="0">
            <a:normAutofit/>
          </a:bodyPr>
          <a:lstStyle/>
          <a:p>
            <a:pPr marL="1828800" marR="0" lvl="0" indent="0" algn="l" rtl="0">
              <a:lnSpc>
                <a:spcPct val="90000"/>
              </a:lnSpc>
              <a:spcBef>
                <a:spcPts val="0"/>
              </a:spcBef>
              <a:spcAft>
                <a:spcPts val="0"/>
              </a:spcAft>
              <a:buClr>
                <a:srgbClr val="385623"/>
              </a:buClr>
              <a:buSzPts val="2000"/>
              <a:buFont typeface="Arial"/>
              <a:buNone/>
            </a:pPr>
            <a:r>
              <a:rPr lang="en-US" sz="2000" b="1" dirty="0">
                <a:solidFill>
                  <a:srgbClr val="385623"/>
                </a:solidFill>
                <a:latin typeface="Cambria"/>
                <a:ea typeface="Cambria"/>
                <a:cs typeface="Cambria"/>
                <a:sym typeface="Cambria"/>
              </a:rPr>
              <a:t>   </a:t>
            </a:r>
            <a:r>
              <a:rPr lang="en-US" sz="2000" b="1" i="0" u="none" strike="noStrike" cap="none" dirty="0">
                <a:solidFill>
                  <a:srgbClr val="385623"/>
                </a:solidFill>
                <a:latin typeface="Cambria"/>
                <a:ea typeface="Cambria"/>
                <a:cs typeface="Cambria"/>
                <a:sym typeface="Cambria"/>
              </a:rPr>
              <a:t>MEMBER</a:t>
            </a:r>
            <a:endParaRPr sz="1400" b="0" i="0" u="none" strike="noStrike" cap="none" dirty="0">
              <a:solidFill>
                <a:srgbClr val="000000"/>
              </a:solidFill>
              <a:latin typeface="Arial"/>
              <a:ea typeface="Arial"/>
              <a:cs typeface="Arial"/>
              <a:sym typeface="Arial"/>
            </a:endParaRPr>
          </a:p>
          <a:p>
            <a:pPr marL="0" marR="0" lvl="0" indent="0" algn="ctr" rtl="0">
              <a:lnSpc>
                <a:spcPct val="90000"/>
              </a:lnSpc>
              <a:spcBef>
                <a:spcPts val="1000"/>
              </a:spcBef>
              <a:spcAft>
                <a:spcPts val="0"/>
              </a:spcAft>
              <a:buClr>
                <a:srgbClr val="7030A0"/>
              </a:buClr>
              <a:buSzPts val="1800"/>
              <a:buFont typeface="Arial"/>
              <a:buNone/>
            </a:pPr>
            <a:r>
              <a:rPr lang="en-US" sz="1800" b="1" dirty="0" smtClean="0">
                <a:solidFill>
                  <a:srgbClr val="7030A0"/>
                </a:solidFill>
                <a:latin typeface="Cambria"/>
                <a:ea typeface="Cambria"/>
                <a:cs typeface="Cambria"/>
                <a:sym typeface="Cambria"/>
              </a:rPr>
              <a:t>VISHWA S </a:t>
            </a:r>
            <a:r>
              <a:rPr lang="en-US" sz="1800" b="1" dirty="0">
                <a:solidFill>
                  <a:srgbClr val="7030A0"/>
                </a:solidFill>
                <a:latin typeface="Cambria"/>
                <a:ea typeface="Cambria"/>
                <a:cs typeface="Cambria"/>
                <a:sym typeface="Cambria"/>
              </a:rPr>
              <a:t>(</a:t>
            </a:r>
            <a:r>
              <a:rPr lang="en-US" sz="1800" b="1" dirty="0" smtClean="0">
                <a:solidFill>
                  <a:srgbClr val="7030A0"/>
                </a:solidFill>
                <a:latin typeface="Cambria"/>
                <a:ea typeface="Cambria"/>
                <a:cs typeface="Cambria"/>
                <a:sym typeface="Cambria"/>
              </a:rPr>
              <a:t>7376232IT280)</a:t>
            </a:r>
            <a:endParaRPr sz="2400" b="1" i="0" u="none" strike="noStrike" cap="none" dirty="0">
              <a:solidFill>
                <a:srgbClr val="7030A0"/>
              </a:solidFill>
              <a:latin typeface="Cambria"/>
              <a:ea typeface="Cambria"/>
              <a:cs typeface="Cambria"/>
              <a:sym typeface="Cambria"/>
            </a:endParaRPr>
          </a:p>
          <a:p>
            <a:pPr marL="0" marR="0" lvl="0" indent="0" algn="ctr" rtl="0">
              <a:lnSpc>
                <a:spcPct val="90000"/>
              </a:lnSpc>
              <a:spcBef>
                <a:spcPts val="1000"/>
              </a:spcBef>
              <a:spcAft>
                <a:spcPts val="0"/>
              </a:spcAft>
              <a:buClr>
                <a:schemeClr val="dk1"/>
              </a:buClr>
              <a:buSzPts val="2400"/>
              <a:buFont typeface="Arial"/>
              <a:buNone/>
            </a:pPr>
            <a:endParaRPr sz="2400" b="1" i="0" u="none" strike="noStrike" cap="none" dirty="0">
              <a:solidFill>
                <a:schemeClr val="dk1"/>
              </a:solidFill>
              <a:latin typeface="Cambria"/>
              <a:ea typeface="Cambria"/>
              <a:cs typeface="Cambria"/>
              <a:sym typeface="Cambria"/>
            </a:endParaRPr>
          </a:p>
        </p:txBody>
      </p:sp>
      <p:sp>
        <p:nvSpPr>
          <p:cNvPr id="92" name="Google Shape;92;p13"/>
          <p:cNvSpPr txBox="1"/>
          <p:nvPr/>
        </p:nvSpPr>
        <p:spPr>
          <a:xfrm>
            <a:off x="6771255" y="5126181"/>
            <a:ext cx="5032800" cy="1440900"/>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rgbClr val="385623"/>
              </a:buClr>
              <a:buSzPts val="2000"/>
              <a:buFont typeface="Arial"/>
              <a:buNone/>
            </a:pPr>
            <a:r>
              <a:rPr lang="en-US" sz="2000" b="1" i="0" u="none" strike="noStrike" cap="none" dirty="0">
                <a:solidFill>
                  <a:srgbClr val="385623"/>
                </a:solidFill>
                <a:latin typeface="Cambria"/>
                <a:ea typeface="Cambria"/>
                <a:cs typeface="Cambria"/>
                <a:sym typeface="Cambria"/>
              </a:rPr>
              <a:t>GUIDE </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600"/>
              </a:spcBef>
              <a:spcAft>
                <a:spcPts val="0"/>
              </a:spcAft>
              <a:buClr>
                <a:srgbClr val="7030A0"/>
              </a:buClr>
              <a:buSzPts val="1800"/>
              <a:buFont typeface="Arial"/>
              <a:buNone/>
            </a:pPr>
            <a:r>
              <a:rPr lang="en-US" sz="1800" b="1" dirty="0">
                <a:solidFill>
                  <a:srgbClr val="7030A0"/>
                </a:solidFill>
                <a:latin typeface="Cambria"/>
                <a:ea typeface="Cambria"/>
                <a:cs typeface="Cambria"/>
                <a:sym typeface="Cambria"/>
              </a:rPr>
              <a:t>Prof. </a:t>
            </a:r>
            <a:r>
              <a:rPr lang="en-US" sz="1800" b="1" dirty="0" smtClean="0">
                <a:solidFill>
                  <a:srgbClr val="7030A0"/>
                </a:solidFill>
                <a:latin typeface="Cambria"/>
                <a:ea typeface="Cambria"/>
                <a:cs typeface="Cambria"/>
                <a:sym typeface="Cambria"/>
              </a:rPr>
              <a:t>SENTHILNATHAN </a:t>
            </a:r>
            <a:r>
              <a:rPr lang="en-US" sz="1800" b="1" dirty="0" smtClean="0">
                <a:solidFill>
                  <a:srgbClr val="7030A0"/>
                </a:solidFill>
                <a:latin typeface="Cambria"/>
                <a:ea typeface="Cambria"/>
                <a:cs typeface="Cambria"/>
                <a:sym typeface="Cambria"/>
              </a:rPr>
              <a:t>S</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600"/>
              </a:spcBef>
              <a:spcAft>
                <a:spcPts val="0"/>
              </a:spcAft>
              <a:buClr>
                <a:srgbClr val="7030A0"/>
              </a:buClr>
              <a:buSzPts val="1800"/>
              <a:buFont typeface="Arial"/>
              <a:buNone/>
            </a:pPr>
            <a:r>
              <a:rPr lang="en-US" sz="1800" b="1" i="0" u="none" strike="noStrike" cap="none" dirty="0">
                <a:solidFill>
                  <a:srgbClr val="7030A0"/>
                </a:solidFill>
                <a:latin typeface="Cambria"/>
                <a:ea typeface="Cambria"/>
                <a:cs typeface="Cambria"/>
                <a:sym typeface="Cambria"/>
              </a:rPr>
              <a:t>Associate Professor</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600"/>
              </a:spcBef>
              <a:spcAft>
                <a:spcPts val="0"/>
              </a:spcAft>
              <a:buClr>
                <a:srgbClr val="7030A0"/>
              </a:buClr>
              <a:buSzPts val="1800"/>
              <a:buFont typeface="Arial"/>
              <a:buNone/>
            </a:pPr>
            <a:r>
              <a:rPr lang="en-US" sz="1800" b="1" i="0" u="none" strike="noStrike" cap="none" dirty="0">
                <a:solidFill>
                  <a:srgbClr val="7030A0"/>
                </a:solidFill>
                <a:latin typeface="Cambria"/>
                <a:ea typeface="Cambria"/>
                <a:cs typeface="Cambria"/>
                <a:sym typeface="Cambria"/>
              </a:rPr>
              <a:t>Department of </a:t>
            </a:r>
            <a:r>
              <a:rPr lang="en-US" sz="1800" b="1" dirty="0">
                <a:solidFill>
                  <a:srgbClr val="7030A0"/>
                </a:solidFill>
                <a:latin typeface="Cambria"/>
                <a:ea typeface="Cambria"/>
                <a:cs typeface="Cambria"/>
                <a:sym typeface="Cambria"/>
              </a:rPr>
              <a:t>Information Technology</a:t>
            </a:r>
            <a:endParaRPr sz="2400" b="1" i="0" u="none" strike="noStrike" cap="none" dirty="0">
              <a:solidFill>
                <a:schemeClr val="dk1"/>
              </a:solidFill>
              <a:latin typeface="Cambria"/>
              <a:ea typeface="Cambria"/>
              <a:cs typeface="Cambria"/>
              <a:sym typeface="Cambria"/>
            </a:endParaRPr>
          </a:p>
        </p:txBody>
      </p:sp>
      <p:sp>
        <p:nvSpPr>
          <p:cNvPr id="93" name="Google Shape;93;p13"/>
          <p:cNvSpPr txBox="1"/>
          <p:nvPr/>
        </p:nvSpPr>
        <p:spPr>
          <a:xfrm>
            <a:off x="1446298" y="3994171"/>
            <a:ext cx="29373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rgbClr val="2F5496"/>
                </a:solidFill>
                <a:latin typeface="Cambria"/>
                <a:ea typeface="Cambria"/>
                <a:cs typeface="Cambria"/>
                <a:sym typeface="Cambria"/>
              </a:rPr>
              <a:t>BIP PROJECT ID</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1" dirty="0" smtClean="0">
                <a:solidFill>
                  <a:schemeClr val="dk1"/>
                </a:solidFill>
                <a:latin typeface="Cambria"/>
                <a:ea typeface="Cambria"/>
                <a:cs typeface="Cambria"/>
                <a:sym typeface="Cambria"/>
              </a:rPr>
              <a:t>2026MIN1571</a:t>
            </a:r>
            <a:endParaRPr sz="1800" b="1" i="0" u="none" strike="noStrike" cap="none" dirty="0">
              <a:solidFill>
                <a:schemeClr val="dk1"/>
              </a:solidFill>
              <a:latin typeface="Cambria"/>
              <a:ea typeface="Cambria"/>
              <a:cs typeface="Cambria"/>
              <a:sym typeface="Cambria"/>
            </a:endParaRPr>
          </a:p>
        </p:txBody>
      </p:sp>
      <p:sp>
        <p:nvSpPr>
          <p:cNvPr id="94" name="Google Shape;94;p13"/>
          <p:cNvSpPr txBox="1"/>
          <p:nvPr/>
        </p:nvSpPr>
        <p:spPr>
          <a:xfrm>
            <a:off x="6048194" y="3970524"/>
            <a:ext cx="61377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dirty="0">
                <a:solidFill>
                  <a:srgbClr val="2F5496"/>
                </a:solidFill>
                <a:latin typeface="Cambria"/>
                <a:ea typeface="Cambria"/>
                <a:cs typeface="Cambria"/>
                <a:sym typeface="Cambria"/>
              </a:rPr>
              <a:t> </a:t>
            </a:r>
            <a:r>
              <a:rPr lang="en-US" sz="1800" b="1" dirty="0" smtClean="0">
                <a:solidFill>
                  <a:srgbClr val="2F5496"/>
                </a:solidFill>
                <a:latin typeface="Cambria"/>
                <a:ea typeface="Cambria"/>
                <a:cs typeface="Cambria"/>
                <a:sym typeface="Cambria"/>
              </a:rPr>
              <a:t>          </a:t>
            </a:r>
            <a:r>
              <a:rPr lang="en-US" sz="1800" b="1" i="0" u="none" strike="noStrike" cap="none" dirty="0" smtClean="0">
                <a:solidFill>
                  <a:srgbClr val="2F5496"/>
                </a:solidFill>
                <a:latin typeface="Cambria"/>
                <a:ea typeface="Cambria"/>
                <a:cs typeface="Cambria"/>
                <a:sym typeface="Cambria"/>
              </a:rPr>
              <a:t>CATERGORY </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smtClean="0">
                <a:solidFill>
                  <a:srgbClr val="C00000"/>
                </a:solidFill>
                <a:latin typeface="Cambria"/>
                <a:ea typeface="Cambria"/>
                <a:cs typeface="Cambria"/>
                <a:sym typeface="Cambria"/>
              </a:rPr>
              <a:t>             INTERNAL</a:t>
            </a:r>
            <a:endParaRPr sz="1800" b="1" i="0" u="none" strike="noStrike" cap="none" dirty="0">
              <a:solidFill>
                <a:schemeClr val="dk1"/>
              </a:solidFill>
              <a:latin typeface="Cambria"/>
              <a:ea typeface="Cambria"/>
              <a:cs typeface="Cambria"/>
              <a:sym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4"/>
          <p:cNvSpPr txBox="1">
            <a:spLocks noGrp="1"/>
          </p:cNvSpPr>
          <p:nvPr>
            <p:ph type="body" idx="1"/>
          </p:nvPr>
        </p:nvSpPr>
        <p:spPr>
          <a:xfrm>
            <a:off x="838200" y="900525"/>
            <a:ext cx="10515600" cy="5372700"/>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a:bodyPr>
          <a:lstStyle/>
          <a:p>
            <a:pPr marL="228600" lvl="0" indent="-228600" algn="l" rtl="0">
              <a:lnSpc>
                <a:spcPct val="90000"/>
              </a:lnSpc>
              <a:spcBef>
                <a:spcPts val="800"/>
              </a:spcBef>
              <a:spcAft>
                <a:spcPts val="0"/>
              </a:spcAft>
              <a:buClr>
                <a:schemeClr val="dk1"/>
              </a:buClr>
              <a:buSzPts val="2000"/>
              <a:buNone/>
            </a:pPr>
            <a:r>
              <a:rPr lang="en-US" sz="2000" b="1" dirty="0">
                <a:solidFill>
                  <a:srgbClr val="C00000"/>
                </a:solidFill>
                <a:latin typeface="Cambria"/>
                <a:ea typeface="Cambria"/>
                <a:cs typeface="Cambria"/>
                <a:sym typeface="Cambria"/>
              </a:rPr>
              <a:t>Aim</a:t>
            </a:r>
            <a:endParaRPr dirty="0"/>
          </a:p>
          <a:p>
            <a:pPr marL="342900">
              <a:spcBef>
                <a:spcPts val="800"/>
              </a:spcBef>
              <a:buSzPts val="2000"/>
            </a:pPr>
            <a:r>
              <a:rPr lang="en-GB" sz="2000" dirty="0">
                <a:latin typeface="Times New Roman" panose="02020603050405020304" pitchFamily="18" charset="0"/>
                <a:cs typeface="Times New Roman" panose="02020603050405020304" pitchFamily="18" charset="0"/>
              </a:rPr>
              <a:t>To develop a </a:t>
            </a:r>
            <a:r>
              <a:rPr lang="en-GB" sz="2000" b="1" dirty="0">
                <a:latin typeface="Times New Roman" panose="02020603050405020304" pitchFamily="18" charset="0"/>
                <a:cs typeface="Times New Roman" panose="02020603050405020304" pitchFamily="18" charset="0"/>
              </a:rPr>
              <a:t>Green Campus Performance Dashboard</a:t>
            </a:r>
            <a:r>
              <a:rPr lang="en-GB" sz="2000" dirty="0">
                <a:latin typeface="Times New Roman" panose="02020603050405020304" pitchFamily="18" charset="0"/>
                <a:cs typeface="Times New Roman" panose="02020603050405020304" pitchFamily="18" charset="0"/>
              </a:rPr>
              <a:t> for centralized monitoring, analysis, and evaluation of environmental parameters such as energy, water, waste, and carbon emissions. </a:t>
            </a:r>
            <a:endParaRPr lang="en-US" sz="2000" b="1" dirty="0" smtClean="0">
              <a:solidFill>
                <a:srgbClr val="C00000"/>
              </a:solidFill>
              <a:latin typeface="Cambria"/>
              <a:ea typeface="Cambria"/>
              <a:cs typeface="Cambria"/>
              <a:sym typeface="Cambria"/>
            </a:endParaRPr>
          </a:p>
          <a:p>
            <a:pPr marL="228600" lvl="0" indent="-228600" algn="l" rtl="0">
              <a:lnSpc>
                <a:spcPct val="90000"/>
              </a:lnSpc>
              <a:spcBef>
                <a:spcPts val="800"/>
              </a:spcBef>
              <a:spcAft>
                <a:spcPts val="0"/>
              </a:spcAft>
              <a:buClr>
                <a:schemeClr val="dk1"/>
              </a:buClr>
              <a:buSzPts val="2000"/>
              <a:buNone/>
            </a:pPr>
            <a:r>
              <a:rPr lang="en-US" sz="2000" b="1" dirty="0" smtClean="0">
                <a:solidFill>
                  <a:srgbClr val="C00000"/>
                </a:solidFill>
                <a:latin typeface="Cambria"/>
                <a:ea typeface="Cambria"/>
                <a:cs typeface="Cambria"/>
                <a:sym typeface="Cambria"/>
              </a:rPr>
              <a:t>Problem </a:t>
            </a:r>
            <a:r>
              <a:rPr lang="en-US" sz="2000" b="1" dirty="0">
                <a:solidFill>
                  <a:srgbClr val="C00000"/>
                </a:solidFill>
                <a:latin typeface="Cambria"/>
                <a:ea typeface="Cambria"/>
                <a:cs typeface="Cambria"/>
                <a:sym typeface="Cambria"/>
              </a:rPr>
              <a:t>Statement</a:t>
            </a:r>
            <a:endParaRPr dirty="0"/>
          </a:p>
          <a:p>
            <a:pPr marL="342900">
              <a:spcBef>
                <a:spcPts val="800"/>
              </a:spcBef>
              <a:buSzPts val="2000"/>
            </a:pPr>
            <a:r>
              <a:rPr lang="en-GB" sz="2000" dirty="0">
                <a:latin typeface="Times New Roman" panose="02020603050405020304" pitchFamily="18" charset="0"/>
                <a:cs typeface="Times New Roman" panose="02020603050405020304" pitchFamily="18" charset="0"/>
              </a:rPr>
              <a:t>The absence of a centralized and efficient system makes it difficult to monitor, </a:t>
            </a:r>
            <a:r>
              <a:rPr lang="en-GB" sz="2000" dirty="0" err="1">
                <a:latin typeface="Times New Roman" panose="02020603050405020304" pitchFamily="18" charset="0"/>
                <a:cs typeface="Times New Roman" panose="02020603050405020304" pitchFamily="18" charset="0"/>
              </a:rPr>
              <a:t>analyze</a:t>
            </a:r>
            <a:r>
              <a:rPr lang="en-GB" sz="2000" dirty="0">
                <a:latin typeface="Times New Roman" panose="02020603050405020304" pitchFamily="18" charset="0"/>
                <a:cs typeface="Times New Roman" panose="02020603050405020304" pitchFamily="18" charset="0"/>
              </a:rPr>
              <a:t>, and manage campus environmental data, leading to poor sustainability awareness and decision-making.</a:t>
            </a:r>
            <a:endParaRPr lang="en-US" sz="2000" b="1" dirty="0" smtClean="0">
              <a:solidFill>
                <a:srgbClr val="C00000"/>
              </a:solidFill>
              <a:latin typeface="Times New Roman" panose="02020603050405020304" pitchFamily="18" charset="0"/>
              <a:ea typeface="Cambria"/>
              <a:cs typeface="Times New Roman" panose="02020603050405020304" pitchFamily="18" charset="0"/>
              <a:sym typeface="Cambria"/>
            </a:endParaRPr>
          </a:p>
          <a:p>
            <a:pPr marL="228600" lvl="0" indent="-228600" algn="l" rtl="0">
              <a:lnSpc>
                <a:spcPct val="90000"/>
              </a:lnSpc>
              <a:spcBef>
                <a:spcPts val="800"/>
              </a:spcBef>
              <a:spcAft>
                <a:spcPts val="0"/>
              </a:spcAft>
              <a:buClr>
                <a:schemeClr val="dk1"/>
              </a:buClr>
              <a:buSzPts val="2000"/>
              <a:buNone/>
            </a:pPr>
            <a:r>
              <a:rPr lang="en-US" sz="2000" b="1" dirty="0" smtClean="0">
                <a:solidFill>
                  <a:srgbClr val="C00000"/>
                </a:solidFill>
                <a:latin typeface="Cambria"/>
                <a:ea typeface="Cambria"/>
                <a:cs typeface="Cambria"/>
                <a:sym typeface="Cambria"/>
              </a:rPr>
              <a:t>Objectives</a:t>
            </a:r>
          </a:p>
          <a:p>
            <a:pPr marL="342900">
              <a:spcBef>
                <a:spcPts val="800"/>
              </a:spcBef>
              <a:buSzPts val="2000"/>
            </a:pPr>
            <a:r>
              <a:rPr lang="en-GB" sz="2000" dirty="0">
                <a:latin typeface="Times New Roman" panose="02020603050405020304" pitchFamily="18" charset="0"/>
                <a:cs typeface="Times New Roman" panose="02020603050405020304" pitchFamily="18" charset="0"/>
              </a:rPr>
              <a:t>To develop a </a:t>
            </a:r>
            <a:r>
              <a:rPr lang="en-GB" sz="2000" b="1" dirty="0">
                <a:latin typeface="Times New Roman" panose="02020603050405020304" pitchFamily="18" charset="0"/>
                <a:cs typeface="Times New Roman" panose="02020603050405020304" pitchFamily="18" charset="0"/>
              </a:rPr>
              <a:t>centralized dashboard</a:t>
            </a:r>
            <a:r>
              <a:rPr lang="en-GB" sz="2000" dirty="0">
                <a:latin typeface="Times New Roman" panose="02020603050405020304" pitchFamily="18" charset="0"/>
                <a:cs typeface="Times New Roman" panose="02020603050405020304" pitchFamily="18" charset="0"/>
              </a:rPr>
              <a:t> for monitoring environmental parameters</a:t>
            </a:r>
            <a:r>
              <a:rPr lang="en-GB" sz="2000" dirty="0" smtClean="0">
                <a:latin typeface="Times New Roman" panose="02020603050405020304" pitchFamily="18" charset="0"/>
                <a:cs typeface="Times New Roman" panose="02020603050405020304" pitchFamily="18" charset="0"/>
              </a:rPr>
              <a:t>.</a:t>
            </a:r>
          </a:p>
          <a:p>
            <a:pPr marL="342900">
              <a:spcBef>
                <a:spcPts val="800"/>
              </a:spcBef>
              <a:buSzPts val="2000"/>
            </a:pPr>
            <a:r>
              <a:rPr lang="en-GB" sz="2000" dirty="0">
                <a:latin typeface="Times New Roman" panose="02020603050405020304" pitchFamily="18" charset="0"/>
                <a:cs typeface="Times New Roman" panose="02020603050405020304" pitchFamily="18" charset="0"/>
              </a:rPr>
              <a:t>To provide </a:t>
            </a:r>
            <a:r>
              <a:rPr lang="en-GB" sz="2000" b="1" dirty="0">
                <a:latin typeface="Times New Roman" panose="02020603050405020304" pitchFamily="18" charset="0"/>
                <a:cs typeface="Times New Roman" panose="02020603050405020304" pitchFamily="18" charset="0"/>
              </a:rPr>
              <a:t>data visualization and comparison</a:t>
            </a:r>
            <a:r>
              <a:rPr lang="en-GB" sz="2000" dirty="0">
                <a:latin typeface="Times New Roman" panose="02020603050405020304" pitchFamily="18" charset="0"/>
                <a:cs typeface="Times New Roman" panose="02020603050405020304" pitchFamily="18" charset="0"/>
              </a:rPr>
              <a:t> using charts and graphs</a:t>
            </a:r>
            <a:r>
              <a:rPr lang="en-GB" sz="2000" dirty="0" smtClean="0">
                <a:latin typeface="Times New Roman" panose="02020603050405020304" pitchFamily="18" charset="0"/>
                <a:cs typeface="Times New Roman" panose="02020603050405020304" pitchFamily="18" charset="0"/>
              </a:rPr>
              <a:t>.</a:t>
            </a:r>
          </a:p>
          <a:p>
            <a:pPr marL="342900">
              <a:spcBef>
                <a:spcPts val="800"/>
              </a:spcBef>
              <a:buSzPts val="2000"/>
            </a:pPr>
            <a:r>
              <a:rPr lang="en-GB" sz="2000" dirty="0">
                <a:latin typeface="Times New Roman" panose="02020603050405020304" pitchFamily="18" charset="0"/>
                <a:cs typeface="Times New Roman" panose="02020603050405020304" pitchFamily="18" charset="0"/>
              </a:rPr>
              <a:t>To implement </a:t>
            </a:r>
            <a:r>
              <a:rPr lang="en-GB" sz="2000" b="1" dirty="0">
                <a:latin typeface="Times New Roman" panose="02020603050405020304" pitchFamily="18" charset="0"/>
                <a:cs typeface="Times New Roman" panose="02020603050405020304" pitchFamily="18" charset="0"/>
              </a:rPr>
              <a:t>secure role-based access</a:t>
            </a:r>
            <a:r>
              <a:rPr lang="en-GB" sz="2000" dirty="0">
                <a:latin typeface="Times New Roman" panose="02020603050405020304" pitchFamily="18" charset="0"/>
                <a:cs typeface="Times New Roman" panose="02020603050405020304" pitchFamily="18" charset="0"/>
              </a:rPr>
              <a:t> with admin data management features</a:t>
            </a:r>
            <a:r>
              <a:rPr lang="en-GB" sz="2000" dirty="0" smtClean="0">
                <a:latin typeface="Times New Roman" panose="02020603050405020304" pitchFamily="18" charset="0"/>
                <a:cs typeface="Times New Roman" panose="02020603050405020304" pitchFamily="18" charset="0"/>
              </a:rPr>
              <a:t>.</a:t>
            </a:r>
          </a:p>
          <a:p>
            <a:pPr marL="342900">
              <a:spcBef>
                <a:spcPts val="800"/>
              </a:spcBef>
              <a:buSzPts val="2000"/>
            </a:pPr>
            <a:r>
              <a:rPr lang="en-GB" sz="2000" dirty="0">
                <a:latin typeface="Times New Roman" panose="02020603050405020304" pitchFamily="18" charset="0"/>
                <a:cs typeface="Times New Roman" panose="02020603050405020304" pitchFamily="18" charset="0"/>
              </a:rPr>
              <a:t>To compare </a:t>
            </a:r>
            <a:r>
              <a:rPr lang="en-GB" sz="2000" b="1" dirty="0">
                <a:latin typeface="Times New Roman" panose="02020603050405020304" pitchFamily="18" charset="0"/>
                <a:cs typeface="Times New Roman" panose="02020603050405020304" pitchFamily="18" charset="0"/>
              </a:rPr>
              <a:t>current and previous data</a:t>
            </a:r>
            <a:r>
              <a:rPr lang="en-GB" sz="2000" dirty="0">
                <a:latin typeface="Times New Roman" panose="02020603050405020304" pitchFamily="18" charset="0"/>
                <a:cs typeface="Times New Roman" panose="02020603050405020304" pitchFamily="18" charset="0"/>
              </a:rPr>
              <a:t> for analysis</a:t>
            </a:r>
            <a:r>
              <a:rPr lang="en-GB" sz="2000" dirty="0" smtClean="0">
                <a:latin typeface="Times New Roman" panose="02020603050405020304" pitchFamily="18" charset="0"/>
                <a:cs typeface="Times New Roman" panose="02020603050405020304" pitchFamily="18" charset="0"/>
              </a:rPr>
              <a:t>.</a:t>
            </a:r>
          </a:p>
          <a:p>
            <a:pPr marL="342900">
              <a:spcBef>
                <a:spcPts val="800"/>
              </a:spcBef>
              <a:buSzPts val="2000"/>
            </a:pPr>
            <a:r>
              <a:rPr lang="en-GB" sz="2000" dirty="0">
                <a:latin typeface="Times New Roman" panose="02020603050405020304" pitchFamily="18" charset="0"/>
                <a:cs typeface="Times New Roman" panose="02020603050405020304" pitchFamily="18" charset="0"/>
              </a:rPr>
              <a:t>To evaluate sustainability using </a:t>
            </a:r>
            <a:r>
              <a:rPr lang="en-GB" sz="2000" b="1" dirty="0">
                <a:latin typeface="Times New Roman" panose="02020603050405020304" pitchFamily="18" charset="0"/>
                <a:cs typeface="Times New Roman" panose="02020603050405020304" pitchFamily="18" charset="0"/>
              </a:rPr>
              <a:t>Green Score and alert mechanisms</a:t>
            </a:r>
            <a:r>
              <a:rPr lang="en-GB" sz="2000" dirty="0" smtClean="0">
                <a:latin typeface="Times New Roman" panose="02020603050405020304" pitchFamily="18" charset="0"/>
                <a:cs typeface="Times New Roman" panose="02020603050405020304" pitchFamily="18" charset="0"/>
              </a:rPr>
              <a:t>.</a:t>
            </a:r>
          </a:p>
          <a:p>
            <a:pPr marL="342900">
              <a:spcBef>
                <a:spcPts val="800"/>
              </a:spcBef>
              <a:buSzPts val="2000"/>
            </a:pPr>
            <a:r>
              <a:rPr lang="en-GB" sz="2000" dirty="0">
                <a:latin typeface="Times New Roman" panose="02020603050405020304" pitchFamily="18" charset="0"/>
                <a:cs typeface="Times New Roman" panose="02020603050405020304" pitchFamily="18" charset="0"/>
              </a:rPr>
              <a:t>To provide a </a:t>
            </a:r>
            <a:r>
              <a:rPr lang="en-GB" sz="2000" b="1" dirty="0">
                <a:latin typeface="Times New Roman" panose="02020603050405020304" pitchFamily="18" charset="0"/>
                <a:cs typeface="Times New Roman" panose="02020603050405020304" pitchFamily="18" charset="0"/>
              </a:rPr>
              <a:t>Contact Us module</a:t>
            </a:r>
            <a:r>
              <a:rPr lang="en-GB" sz="2000" dirty="0">
                <a:latin typeface="Times New Roman" panose="02020603050405020304" pitchFamily="18" charset="0"/>
                <a:cs typeface="Times New Roman" panose="02020603050405020304" pitchFamily="18" charset="0"/>
              </a:rPr>
              <a:t> for user-admin communication.</a:t>
            </a:r>
            <a:endParaRPr lang="en-US" sz="2000" b="1" dirty="0" smtClean="0">
              <a:solidFill>
                <a:srgbClr val="C00000"/>
              </a:solidFill>
              <a:latin typeface="Times New Roman" panose="02020603050405020304" pitchFamily="18" charset="0"/>
              <a:ea typeface="Cambria"/>
              <a:cs typeface="Times New Roman" panose="02020603050405020304" pitchFamily="18" charset="0"/>
              <a:sym typeface="Cambria"/>
            </a:endParaRPr>
          </a:p>
        </p:txBody>
      </p:sp>
      <p:sp>
        <p:nvSpPr>
          <p:cNvPr id="100" name="Google Shape;100;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800" b="1" dirty="0" smtClean="0">
                <a:solidFill>
                  <a:srgbClr val="385623"/>
                </a:solidFill>
              </a:rPr>
              <a:t>21-04-2026</a:t>
            </a:r>
            <a:endParaRPr sz="1800" b="1" dirty="0">
              <a:solidFill>
                <a:srgbClr val="385623"/>
              </a:solidFill>
            </a:endParaRPr>
          </a:p>
        </p:txBody>
      </p:sp>
      <p:sp>
        <p:nvSpPr>
          <p:cNvPr id="101" name="Google Shape;101;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a:solidFill>
                  <a:srgbClr val="385623"/>
                </a:solidFill>
              </a:rPr>
              <a:t>FINAL REVIEW PRESENTATION</a:t>
            </a:r>
            <a:endParaRPr sz="1800" b="1">
              <a:solidFill>
                <a:srgbClr val="385623"/>
              </a:solidFill>
            </a:endParaRPr>
          </a:p>
        </p:txBody>
      </p:sp>
      <p:sp>
        <p:nvSpPr>
          <p:cNvPr id="102" name="Google Shape;102;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rgbClr val="385623"/>
                </a:solidFill>
              </a:rPr>
              <a:t>2</a:t>
            </a:fld>
            <a:endParaRPr sz="1800" b="1">
              <a:solidFill>
                <a:srgbClr val="385623"/>
              </a:solidFill>
            </a:endParaRPr>
          </a:p>
        </p:txBody>
      </p:sp>
      <p:sp>
        <p:nvSpPr>
          <p:cNvPr id="103" name="Google Shape;103;p14"/>
          <p:cNvSpPr txBox="1">
            <a:spLocks noGrp="1"/>
          </p:cNvSpPr>
          <p:nvPr>
            <p:ph type="title"/>
          </p:nvPr>
        </p:nvSpPr>
        <p:spPr>
          <a:xfrm>
            <a:off x="838200" y="141934"/>
            <a:ext cx="10515600" cy="5769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a:buNone/>
            </a:pPr>
            <a:r>
              <a:rPr lang="en-US" sz="2400" b="1">
                <a:solidFill>
                  <a:srgbClr val="2F5496"/>
                </a:solidFill>
                <a:latin typeface="Cambria"/>
                <a:ea typeface="Cambria"/>
                <a:cs typeface="Cambria"/>
                <a:sym typeface="Cambria"/>
              </a:rPr>
              <a:t>AIM &amp; OBJECTIVES OF THE PROJECT </a:t>
            </a:r>
            <a:br>
              <a:rPr lang="en-US" sz="2400" b="1">
                <a:solidFill>
                  <a:srgbClr val="2F5496"/>
                </a:solidFill>
                <a:latin typeface="Cambria"/>
                <a:ea typeface="Cambria"/>
                <a:cs typeface="Cambria"/>
                <a:sym typeface="Cambria"/>
              </a:rPr>
            </a:br>
            <a:r>
              <a:rPr lang="en-US" sz="2400" b="1">
                <a:solidFill>
                  <a:srgbClr val="2F5496"/>
                </a:solidFill>
                <a:latin typeface="Cambria"/>
                <a:ea typeface="Cambria"/>
                <a:cs typeface="Cambria"/>
                <a:sym typeface="Cambria"/>
              </a:rPr>
              <a:t>(Problem Statement)</a:t>
            </a:r>
            <a:endParaRPr sz="2400" b="1">
              <a:solidFill>
                <a:srgbClr val="2F5496"/>
              </a:solidFill>
              <a:latin typeface="Cambria"/>
              <a:ea typeface="Cambria"/>
              <a:cs typeface="Cambria"/>
              <a:sym typeface="Cambri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graphicFrame>
        <p:nvGraphicFramePr>
          <p:cNvPr id="108" name="Google Shape;108;p15"/>
          <p:cNvGraphicFramePr/>
          <p:nvPr>
            <p:extLst>
              <p:ext uri="{D42A27DB-BD31-4B8C-83A1-F6EECF244321}">
                <p14:modId xmlns:p14="http://schemas.microsoft.com/office/powerpoint/2010/main" val="125630011"/>
              </p:ext>
            </p:extLst>
          </p:nvPr>
        </p:nvGraphicFramePr>
        <p:xfrm>
          <a:off x="355600" y="442329"/>
          <a:ext cx="11612879" cy="5843076"/>
        </p:xfrm>
        <a:graphic>
          <a:graphicData uri="http://schemas.openxmlformats.org/drawingml/2006/table">
            <a:tbl>
              <a:tblPr firstRow="1" bandRow="1">
                <a:noFill/>
                <a:tableStyleId>{C2993447-EED2-430A-9104-5B1019216223}</a:tableStyleId>
              </a:tblPr>
              <a:tblGrid>
                <a:gridCol w="845405">
                  <a:extLst>
                    <a:ext uri="{9D8B030D-6E8A-4147-A177-3AD203B41FA5}">
                      <a16:colId xmlns:a16="http://schemas.microsoft.com/office/drawing/2014/main" val="20000"/>
                    </a:ext>
                  </a:extLst>
                </a:gridCol>
                <a:gridCol w="4961034">
                  <a:extLst>
                    <a:ext uri="{9D8B030D-6E8A-4147-A177-3AD203B41FA5}">
                      <a16:colId xmlns:a16="http://schemas.microsoft.com/office/drawing/2014/main" val="20001"/>
                    </a:ext>
                  </a:extLst>
                </a:gridCol>
                <a:gridCol w="2903220">
                  <a:extLst>
                    <a:ext uri="{9D8B030D-6E8A-4147-A177-3AD203B41FA5}">
                      <a16:colId xmlns:a16="http://schemas.microsoft.com/office/drawing/2014/main" val="20002"/>
                    </a:ext>
                  </a:extLst>
                </a:gridCol>
                <a:gridCol w="2903220">
                  <a:extLst>
                    <a:ext uri="{9D8B030D-6E8A-4147-A177-3AD203B41FA5}">
                      <a16:colId xmlns:a16="http://schemas.microsoft.com/office/drawing/2014/main" val="20003"/>
                    </a:ext>
                  </a:extLst>
                </a:gridCol>
              </a:tblGrid>
              <a:tr h="1699175">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dirty="0" err="1">
                          <a:solidFill>
                            <a:schemeClr val="dk1"/>
                          </a:solidFill>
                        </a:rPr>
                        <a:t>Sl.No</a:t>
                      </a:r>
                      <a:r>
                        <a:rPr lang="en-US" sz="1800" b="1" u="none" strike="noStrike" cap="none" dirty="0">
                          <a:solidFill>
                            <a:schemeClr val="dk1"/>
                          </a:solidFill>
                        </a:rPr>
                        <a:t>.</a:t>
                      </a:r>
                      <a:endParaRPr sz="1800" b="1"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dirty="0">
                          <a:solidFill>
                            <a:schemeClr val="dk1"/>
                          </a:solidFill>
                        </a:rPr>
                        <a:t>Journal Paper Title with Author </a:t>
                      </a:r>
                      <a:endParaRPr sz="1800" b="1"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dirty="0">
                          <a:solidFill>
                            <a:schemeClr val="dk1"/>
                          </a:solidFill>
                        </a:rPr>
                        <a:t>Works carried out  </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b="1" u="none" strike="noStrike" cap="none" dirty="0">
                          <a:solidFill>
                            <a:schemeClr val="dk1"/>
                          </a:solidFill>
                        </a:rPr>
                        <a:t>( with details of Methods/ Materials/ Software/ Algorithms / fabrication / techniques/ components used ) </a:t>
                      </a:r>
                      <a:endParaRPr sz="1800" b="1"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dirty="0">
                          <a:solidFill>
                            <a:schemeClr val="dk1"/>
                          </a:solidFill>
                        </a:rPr>
                        <a:t>Information gathered relevant to your project</a:t>
                      </a:r>
                      <a:endParaRPr sz="1800" b="1"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extLst>
                  <a:ext uri="{0D108BD9-81ED-4DB2-BD59-A6C34878D82A}">
                    <a16:rowId xmlns:a16="http://schemas.microsoft.com/office/drawing/2014/main" val="10000"/>
                  </a:ext>
                </a:extLst>
              </a:tr>
              <a:tr h="625000">
                <a:tc>
                  <a:txBody>
                    <a:bodyPr/>
                    <a:lstStyle/>
                    <a:p>
                      <a:pPr marL="0" marR="0" lvl="0" indent="0" algn="ctr" rtl="0">
                        <a:lnSpc>
                          <a:spcPct val="90000"/>
                        </a:lnSpc>
                        <a:spcBef>
                          <a:spcPts val="0"/>
                        </a:spcBef>
                        <a:spcAft>
                          <a:spcPts val="0"/>
                        </a:spcAft>
                        <a:buClr>
                          <a:srgbClr val="000000"/>
                        </a:buClr>
                        <a:buSzPts val="1600"/>
                        <a:buFont typeface="Arial"/>
                        <a:buNone/>
                      </a:pPr>
                      <a:r>
                        <a:rPr lang="en-US" sz="1600" u="none" strike="noStrike" cap="none">
                          <a:solidFill>
                            <a:srgbClr val="000000"/>
                          </a:solidFill>
                          <a:latin typeface="Cambria"/>
                          <a:ea typeface="Cambria"/>
                          <a:cs typeface="Cambria"/>
                          <a:sym typeface="Cambria"/>
                        </a:rPr>
                        <a:t>1</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90000"/>
                        </a:lnSpc>
                        <a:spcBef>
                          <a:spcPts val="0"/>
                        </a:spcBef>
                        <a:spcAft>
                          <a:spcPts val="0"/>
                        </a:spcAft>
                        <a:buClr>
                          <a:srgbClr val="000000"/>
                        </a:buClr>
                        <a:buSzPts val="1450"/>
                        <a:buFont typeface="Arial"/>
                        <a:buNone/>
                      </a:pPr>
                      <a:r>
                        <a:rPr lang="en-IN" dirty="0" smtClean="0">
                          <a:latin typeface="Times New Roman" panose="02020603050405020304" pitchFamily="18" charset="0"/>
                          <a:cs typeface="Times New Roman" panose="02020603050405020304" pitchFamily="18" charset="0"/>
                        </a:rPr>
                        <a:t>A. Raj, S. Kumar, </a:t>
                      </a:r>
                      <a:r>
                        <a:rPr lang="en-IN" i="1" dirty="0" smtClean="0">
                          <a:latin typeface="Times New Roman" panose="02020603050405020304" pitchFamily="18" charset="0"/>
                          <a:cs typeface="Times New Roman" panose="02020603050405020304" pitchFamily="18" charset="0"/>
                        </a:rPr>
                        <a:t>"Smart Campus Monitoring System Using </a:t>
                      </a:r>
                      <a:r>
                        <a:rPr lang="en-IN" i="1" dirty="0" err="1" smtClean="0">
                          <a:latin typeface="Times New Roman" panose="02020603050405020304" pitchFamily="18" charset="0"/>
                          <a:cs typeface="Times New Roman" panose="02020603050405020304" pitchFamily="18" charset="0"/>
                        </a:rPr>
                        <a:t>IoT</a:t>
                      </a:r>
                      <a:r>
                        <a:rPr lang="en-IN" i="1" dirty="0" smtClean="0">
                          <a:latin typeface="Times New Roman" panose="02020603050405020304" pitchFamily="18" charset="0"/>
                          <a:cs typeface="Times New Roman" panose="02020603050405020304" pitchFamily="18" charset="0"/>
                        </a:rPr>
                        <a:t>,"</a:t>
                      </a:r>
                      <a:r>
                        <a:rPr lang="en-IN" dirty="0" smtClean="0">
                          <a:latin typeface="Times New Roman" panose="02020603050405020304" pitchFamily="18" charset="0"/>
                          <a:cs typeface="Times New Roman" panose="02020603050405020304" pitchFamily="18" charset="0"/>
                        </a:rPr>
                        <a:t> IJERT, vol.9, no.5, 2020.</a:t>
                      </a:r>
                      <a:endParaRPr sz="14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90000"/>
                        </a:lnSpc>
                        <a:spcBef>
                          <a:spcPts val="0"/>
                        </a:spcBef>
                        <a:spcAft>
                          <a:spcPts val="0"/>
                        </a:spcAft>
                        <a:buClr>
                          <a:srgbClr val="000000"/>
                        </a:buClr>
                        <a:buSzPts val="1450"/>
                        <a:buFont typeface="Arial"/>
                        <a:buNone/>
                      </a:pPr>
                      <a:r>
                        <a:rPr lang="en-GB" dirty="0" err="1" smtClean="0">
                          <a:latin typeface="Times New Roman" panose="02020603050405020304" pitchFamily="18" charset="0"/>
                          <a:cs typeface="Times New Roman" panose="02020603050405020304" pitchFamily="18" charset="0"/>
                        </a:rPr>
                        <a:t>IoT</a:t>
                      </a:r>
                      <a:r>
                        <a:rPr lang="en-GB" dirty="0" smtClean="0">
                          <a:latin typeface="Times New Roman" panose="02020603050405020304" pitchFamily="18" charset="0"/>
                          <a:cs typeface="Times New Roman" panose="02020603050405020304" pitchFamily="18" charset="0"/>
                        </a:rPr>
                        <a:t> sensors, microcontrollers, real-time data collection, cloud storage, data monitoring techniques</a:t>
                      </a:r>
                      <a:endParaRPr sz="14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90000"/>
                        </a:lnSpc>
                        <a:spcBef>
                          <a:spcPts val="0"/>
                        </a:spcBef>
                        <a:spcAft>
                          <a:spcPts val="0"/>
                        </a:spcAft>
                        <a:buClr>
                          <a:srgbClr val="000000"/>
                        </a:buClr>
                        <a:buSzPts val="1450"/>
                        <a:buFont typeface="Arial"/>
                        <a:buNone/>
                      </a:pPr>
                      <a:r>
                        <a:rPr lang="en-GB" dirty="0" err="1" smtClean="0">
                          <a:latin typeface="Times New Roman" panose="02020603050405020304" pitchFamily="18" charset="0"/>
                          <a:cs typeface="Times New Roman" panose="02020603050405020304" pitchFamily="18" charset="0"/>
                        </a:rPr>
                        <a:t>IoT</a:t>
                      </a:r>
                      <a:r>
                        <a:rPr lang="en-GB" dirty="0" smtClean="0">
                          <a:latin typeface="Times New Roman" panose="02020603050405020304" pitchFamily="18" charset="0"/>
                          <a:cs typeface="Times New Roman" panose="02020603050405020304" pitchFamily="18" charset="0"/>
                        </a:rPr>
                        <a:t>-based monitoring improved real-time tracking of environmental parameters. Supports automated data collection idea for future enhancement.</a:t>
                      </a:r>
                      <a:endParaRPr sz="14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625000">
                <a:tc>
                  <a:txBody>
                    <a:bodyPr/>
                    <a:lstStyle/>
                    <a:p>
                      <a:pPr marL="0" marR="0" lvl="0" indent="0" algn="ctr" rtl="0">
                        <a:lnSpc>
                          <a:spcPct val="90000"/>
                        </a:lnSpc>
                        <a:spcBef>
                          <a:spcPts val="0"/>
                        </a:spcBef>
                        <a:spcAft>
                          <a:spcPts val="0"/>
                        </a:spcAft>
                        <a:buClr>
                          <a:srgbClr val="000000"/>
                        </a:buClr>
                        <a:buSzPts val="1600"/>
                        <a:buFont typeface="Arial"/>
                        <a:buNone/>
                      </a:pPr>
                      <a:r>
                        <a:rPr lang="en-US" sz="1600" u="none" strike="noStrike" cap="none">
                          <a:solidFill>
                            <a:srgbClr val="000000"/>
                          </a:solidFill>
                          <a:latin typeface="Cambria"/>
                          <a:ea typeface="Cambria"/>
                          <a:cs typeface="Cambria"/>
                          <a:sym typeface="Cambria"/>
                        </a:rPr>
                        <a:t>2</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90000"/>
                        </a:lnSpc>
                        <a:spcBef>
                          <a:spcPts val="0"/>
                        </a:spcBef>
                        <a:spcAft>
                          <a:spcPts val="0"/>
                        </a:spcAft>
                        <a:buClr>
                          <a:srgbClr val="000000"/>
                        </a:buClr>
                        <a:buSzPts val="1450"/>
                        <a:buFont typeface="Arial"/>
                        <a:buNone/>
                      </a:pPr>
                      <a:r>
                        <a:rPr lang="en-IN" dirty="0" smtClean="0">
                          <a:latin typeface="Times New Roman" panose="02020603050405020304" pitchFamily="18" charset="0"/>
                          <a:cs typeface="Times New Roman" panose="02020603050405020304" pitchFamily="18" charset="0"/>
                        </a:rPr>
                        <a:t>S. Patel, M. Shah, </a:t>
                      </a:r>
                      <a:r>
                        <a:rPr lang="en-IN" i="1" dirty="0" smtClean="0">
                          <a:latin typeface="Times New Roman" panose="02020603050405020304" pitchFamily="18" charset="0"/>
                          <a:cs typeface="Times New Roman" panose="02020603050405020304" pitchFamily="18" charset="0"/>
                        </a:rPr>
                        <a:t>"Web-Based Environmental Monitoring Dashboard,"</a:t>
                      </a:r>
                      <a:r>
                        <a:rPr lang="en-IN" dirty="0" smtClean="0">
                          <a:latin typeface="Times New Roman" panose="02020603050405020304" pitchFamily="18" charset="0"/>
                          <a:cs typeface="Times New Roman" panose="02020603050405020304" pitchFamily="18" charset="0"/>
                        </a:rPr>
                        <a:t> IJCA, vol.182, no.10, 2018.</a:t>
                      </a:r>
                      <a:endParaRPr sz="14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90000"/>
                        </a:lnSpc>
                        <a:spcBef>
                          <a:spcPts val="0"/>
                        </a:spcBef>
                        <a:spcAft>
                          <a:spcPts val="0"/>
                        </a:spcAft>
                        <a:buClr>
                          <a:srgbClr val="000000"/>
                        </a:buClr>
                        <a:buSzPts val="1450"/>
                        <a:buFont typeface="Arial"/>
                        <a:buNone/>
                      </a:pPr>
                      <a:r>
                        <a:rPr lang="en-IN" dirty="0" smtClean="0">
                          <a:latin typeface="Times New Roman" panose="02020603050405020304" pitchFamily="18" charset="0"/>
                          <a:cs typeface="Times New Roman" panose="02020603050405020304" pitchFamily="18" charset="0"/>
                        </a:rPr>
                        <a:t>Web technologies (HTML, JS), dashboard design, charts (bar/pie), database integration</a:t>
                      </a:r>
                      <a:endParaRPr sz="14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90000"/>
                        </a:lnSpc>
                        <a:spcBef>
                          <a:spcPts val="0"/>
                        </a:spcBef>
                        <a:spcAft>
                          <a:spcPts val="0"/>
                        </a:spcAft>
                        <a:buClr>
                          <a:srgbClr val="000000"/>
                        </a:buClr>
                        <a:buSzPts val="1450"/>
                        <a:buFont typeface="Arial"/>
                        <a:buNone/>
                      </a:pPr>
                      <a:r>
                        <a:rPr lang="en-GB" dirty="0" smtClean="0">
                          <a:latin typeface="Times New Roman" panose="02020603050405020304" pitchFamily="18" charset="0"/>
                          <a:cs typeface="Times New Roman" panose="02020603050405020304" pitchFamily="18" charset="0"/>
                        </a:rPr>
                        <a:t>Dashboard visualization improved data understanding by 40%. Supports UI design and graph usage in project.</a:t>
                      </a:r>
                      <a:endParaRPr sz="14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625000">
                <a:tc>
                  <a:txBody>
                    <a:bodyPr/>
                    <a:lstStyle/>
                    <a:p>
                      <a:pPr marL="0" marR="0" lvl="0" indent="0" algn="ctr" rtl="0">
                        <a:lnSpc>
                          <a:spcPct val="90000"/>
                        </a:lnSpc>
                        <a:spcBef>
                          <a:spcPts val="0"/>
                        </a:spcBef>
                        <a:spcAft>
                          <a:spcPts val="0"/>
                        </a:spcAft>
                        <a:buClr>
                          <a:srgbClr val="000000"/>
                        </a:buClr>
                        <a:buSzPts val="1600"/>
                        <a:buFont typeface="Arial"/>
                        <a:buNone/>
                      </a:pPr>
                      <a:r>
                        <a:rPr lang="en-US" sz="1600" u="none" strike="noStrike" cap="none">
                          <a:solidFill>
                            <a:srgbClr val="000000"/>
                          </a:solidFill>
                          <a:latin typeface="Cambria"/>
                          <a:ea typeface="Cambria"/>
                          <a:cs typeface="Cambria"/>
                          <a:sym typeface="Cambria"/>
                        </a:rPr>
                        <a:t>3</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90000"/>
                        </a:lnSpc>
                        <a:spcBef>
                          <a:spcPts val="0"/>
                        </a:spcBef>
                        <a:spcAft>
                          <a:spcPts val="0"/>
                        </a:spcAft>
                        <a:buClr>
                          <a:srgbClr val="000000"/>
                        </a:buClr>
                        <a:buSzPts val="1450"/>
                        <a:buFont typeface="Arial"/>
                        <a:buNone/>
                      </a:pPr>
                      <a:r>
                        <a:rPr lang="en-GB" dirty="0" smtClean="0">
                          <a:latin typeface="Times New Roman" panose="02020603050405020304" pitchFamily="18" charset="0"/>
                          <a:cs typeface="Times New Roman" panose="02020603050405020304" pitchFamily="18" charset="0"/>
                        </a:rPr>
                        <a:t>R. </a:t>
                      </a:r>
                      <a:r>
                        <a:rPr lang="en-GB" dirty="0" err="1" smtClean="0">
                          <a:latin typeface="Times New Roman" panose="02020603050405020304" pitchFamily="18" charset="0"/>
                          <a:cs typeface="Times New Roman" panose="02020603050405020304" pitchFamily="18" charset="0"/>
                        </a:rPr>
                        <a:t>Verma</a:t>
                      </a:r>
                      <a:r>
                        <a:rPr lang="en-GB" dirty="0" smtClean="0">
                          <a:latin typeface="Times New Roman" panose="02020603050405020304" pitchFamily="18" charset="0"/>
                          <a:cs typeface="Times New Roman" panose="02020603050405020304" pitchFamily="18" charset="0"/>
                        </a:rPr>
                        <a:t>, P. Singh, </a:t>
                      </a:r>
                      <a:r>
                        <a:rPr lang="en-GB" i="1" dirty="0" smtClean="0">
                          <a:latin typeface="Times New Roman" panose="02020603050405020304" pitchFamily="18" charset="0"/>
                          <a:cs typeface="Times New Roman" panose="02020603050405020304" pitchFamily="18" charset="0"/>
                        </a:rPr>
                        <a:t>"Sustainable Campus Management System,"</a:t>
                      </a:r>
                      <a:r>
                        <a:rPr lang="en-GB" dirty="0" smtClean="0">
                          <a:latin typeface="Times New Roman" panose="02020603050405020304" pitchFamily="18" charset="0"/>
                          <a:cs typeface="Times New Roman" panose="02020603050405020304" pitchFamily="18" charset="0"/>
                        </a:rPr>
                        <a:t> Intl. Journal of Smart Systems, 2021.</a:t>
                      </a:r>
                      <a:endParaRPr sz="14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90000"/>
                        </a:lnSpc>
                        <a:spcBef>
                          <a:spcPts val="0"/>
                        </a:spcBef>
                        <a:spcAft>
                          <a:spcPts val="0"/>
                        </a:spcAft>
                        <a:buClr>
                          <a:srgbClr val="000000"/>
                        </a:buClr>
                        <a:buSzPts val="1450"/>
                        <a:buFont typeface="Arial"/>
                        <a:buNone/>
                      </a:pPr>
                      <a:r>
                        <a:rPr lang="en-GB" dirty="0" smtClean="0">
                          <a:latin typeface="Times New Roman" panose="02020603050405020304" pitchFamily="18" charset="0"/>
                          <a:cs typeface="Times New Roman" panose="02020603050405020304" pitchFamily="18" charset="0"/>
                        </a:rPr>
                        <a:t>Integrated modules (energy, water, waste), database systems, reporting tools, analysis techniques</a:t>
                      </a:r>
                      <a:endParaRPr sz="14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90000"/>
                        </a:lnSpc>
                        <a:spcBef>
                          <a:spcPts val="0"/>
                        </a:spcBef>
                        <a:spcAft>
                          <a:spcPts val="0"/>
                        </a:spcAft>
                        <a:buClr>
                          <a:srgbClr val="000000"/>
                        </a:buClr>
                        <a:buSzPts val="1450"/>
                        <a:buFont typeface="Arial"/>
                        <a:buNone/>
                      </a:pPr>
                      <a:r>
                        <a:rPr lang="en-GB" dirty="0" smtClean="0">
                          <a:latin typeface="Times New Roman" panose="02020603050405020304" pitchFamily="18" charset="0"/>
                          <a:cs typeface="Times New Roman" panose="02020603050405020304" pitchFamily="18" charset="0"/>
                        </a:rPr>
                        <a:t>Multi-parameter monitoring improved sustainability tracking. Inspired integration of all modules in one system.</a:t>
                      </a:r>
                      <a:endParaRPr sz="14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25000">
                <a:tc>
                  <a:txBody>
                    <a:bodyPr/>
                    <a:lstStyle/>
                    <a:p>
                      <a:pPr marL="0" marR="0" lvl="0" indent="0" algn="ctr" rtl="0">
                        <a:lnSpc>
                          <a:spcPct val="90000"/>
                        </a:lnSpc>
                        <a:spcBef>
                          <a:spcPts val="0"/>
                        </a:spcBef>
                        <a:spcAft>
                          <a:spcPts val="0"/>
                        </a:spcAft>
                        <a:buClr>
                          <a:srgbClr val="000000"/>
                        </a:buClr>
                        <a:buSzPts val="1600"/>
                        <a:buFont typeface="Arial"/>
                        <a:buNone/>
                      </a:pPr>
                      <a:r>
                        <a:rPr lang="en-US" sz="1600" u="none" strike="noStrike" cap="none">
                          <a:solidFill>
                            <a:srgbClr val="000000"/>
                          </a:solidFill>
                          <a:latin typeface="Cambria"/>
                          <a:ea typeface="Cambria"/>
                          <a:cs typeface="Cambria"/>
                          <a:sym typeface="Cambria"/>
                        </a:rPr>
                        <a:t>4</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90000"/>
                        </a:lnSpc>
                        <a:spcBef>
                          <a:spcPts val="0"/>
                        </a:spcBef>
                        <a:spcAft>
                          <a:spcPts val="0"/>
                        </a:spcAft>
                        <a:buClr>
                          <a:srgbClr val="000000"/>
                        </a:buClr>
                        <a:buSzPts val="1450"/>
                        <a:buFont typeface="Arial"/>
                        <a:buNone/>
                      </a:pPr>
                      <a:r>
                        <a:rPr lang="en-IN" dirty="0" smtClean="0">
                          <a:latin typeface="Times New Roman" panose="02020603050405020304" pitchFamily="18" charset="0"/>
                          <a:cs typeface="Times New Roman" panose="02020603050405020304" pitchFamily="18" charset="0"/>
                        </a:rPr>
                        <a:t>D. </a:t>
                      </a:r>
                      <a:r>
                        <a:rPr lang="en-IN" dirty="0" err="1" smtClean="0">
                          <a:latin typeface="Times New Roman" panose="02020603050405020304" pitchFamily="18" charset="0"/>
                          <a:cs typeface="Times New Roman" panose="02020603050405020304" pitchFamily="18" charset="0"/>
                        </a:rPr>
                        <a:t>Ferraiolo</a:t>
                      </a:r>
                      <a:r>
                        <a:rPr lang="en-IN" dirty="0" smtClean="0">
                          <a:latin typeface="Times New Roman" panose="02020603050405020304" pitchFamily="18" charset="0"/>
                          <a:cs typeface="Times New Roman" panose="02020603050405020304" pitchFamily="18" charset="0"/>
                        </a:rPr>
                        <a:t>, R. Sandhu, </a:t>
                      </a:r>
                      <a:r>
                        <a:rPr lang="en-IN" i="1" dirty="0" smtClean="0">
                          <a:latin typeface="Times New Roman" panose="02020603050405020304" pitchFamily="18" charset="0"/>
                          <a:cs typeface="Times New Roman" panose="02020603050405020304" pitchFamily="18" charset="0"/>
                        </a:rPr>
                        <a:t>"Role-Based Access Control Models,"</a:t>
                      </a:r>
                      <a:r>
                        <a:rPr lang="en-IN" dirty="0" smtClean="0">
                          <a:latin typeface="Times New Roman" panose="02020603050405020304" pitchFamily="18" charset="0"/>
                          <a:cs typeface="Times New Roman" panose="02020603050405020304" pitchFamily="18" charset="0"/>
                        </a:rPr>
                        <a:t> IEEE Security, 2001.</a:t>
                      </a:r>
                      <a:endParaRPr sz="14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tcPr>
                </a:tc>
                <a:tc>
                  <a:txBody>
                    <a:bodyPr/>
                    <a:lstStyle/>
                    <a:p>
                      <a:pPr marL="0" marR="0" lvl="0" indent="0" algn="l" rtl="0">
                        <a:lnSpc>
                          <a:spcPct val="90000"/>
                        </a:lnSpc>
                        <a:spcBef>
                          <a:spcPts val="0"/>
                        </a:spcBef>
                        <a:spcAft>
                          <a:spcPts val="0"/>
                        </a:spcAft>
                        <a:buClr>
                          <a:srgbClr val="000000"/>
                        </a:buClr>
                        <a:buSzPts val="1450"/>
                        <a:buFont typeface="Arial"/>
                        <a:buNone/>
                      </a:pPr>
                      <a:r>
                        <a:rPr lang="en-GB" dirty="0" smtClean="0">
                          <a:latin typeface="Times New Roman" panose="02020603050405020304" pitchFamily="18" charset="0"/>
                          <a:cs typeface="Times New Roman" panose="02020603050405020304" pitchFamily="18" charset="0"/>
                        </a:rPr>
                        <a:t>RBAC algorithms, authentication systems, user role management, access control mechanisms</a:t>
                      </a:r>
                      <a:endParaRPr sz="14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90000"/>
                        </a:lnSpc>
                        <a:spcBef>
                          <a:spcPts val="0"/>
                        </a:spcBef>
                        <a:spcAft>
                          <a:spcPts val="0"/>
                        </a:spcAft>
                        <a:buClr>
                          <a:srgbClr val="000000"/>
                        </a:buClr>
                        <a:buSzPts val="1450"/>
                        <a:buFont typeface="Arial"/>
                        <a:buNone/>
                      </a:pPr>
                      <a:r>
                        <a:rPr lang="en-GB" dirty="0" smtClean="0">
                          <a:latin typeface="Times New Roman" panose="02020603050405020304" pitchFamily="18" charset="0"/>
                          <a:cs typeface="Times New Roman" panose="02020603050405020304" pitchFamily="18" charset="0"/>
                        </a:rPr>
                        <a:t>Role-based access improved system security. Used for admin-user login control in project.</a:t>
                      </a:r>
                      <a:endParaRPr sz="14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625000">
                <a:tc>
                  <a:txBody>
                    <a:bodyPr/>
                    <a:lstStyle/>
                    <a:p>
                      <a:pPr marL="0" marR="0" lvl="0" indent="0" algn="ctr" rtl="0">
                        <a:lnSpc>
                          <a:spcPct val="90000"/>
                        </a:lnSpc>
                        <a:spcBef>
                          <a:spcPts val="0"/>
                        </a:spcBef>
                        <a:spcAft>
                          <a:spcPts val="0"/>
                        </a:spcAft>
                        <a:buClr>
                          <a:srgbClr val="000000"/>
                        </a:buClr>
                        <a:buSzPts val="1600"/>
                        <a:buFont typeface="Arial"/>
                        <a:buNone/>
                      </a:pPr>
                      <a:r>
                        <a:rPr lang="en-US" sz="1600" u="none" strike="noStrike" cap="none">
                          <a:solidFill>
                            <a:srgbClr val="000000"/>
                          </a:solidFill>
                          <a:latin typeface="Cambria"/>
                          <a:ea typeface="Cambria"/>
                          <a:cs typeface="Cambria"/>
                          <a:sym typeface="Cambria"/>
                        </a:rPr>
                        <a:t>5</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r>
                        <a:rPr lang="en-GB" dirty="0" smtClean="0">
                          <a:latin typeface="Times New Roman" panose="02020603050405020304" pitchFamily="18" charset="0"/>
                          <a:cs typeface="Times New Roman" panose="02020603050405020304" pitchFamily="18" charset="0"/>
                        </a:rPr>
                        <a:t>S. Few, </a:t>
                      </a:r>
                      <a:r>
                        <a:rPr lang="en-GB" i="1" dirty="0" smtClean="0">
                          <a:latin typeface="Times New Roman" panose="02020603050405020304" pitchFamily="18" charset="0"/>
                          <a:cs typeface="Times New Roman" panose="02020603050405020304" pitchFamily="18" charset="0"/>
                        </a:rPr>
                        <a:t>"Data Visualization for Decision Support Systems,"</a:t>
                      </a:r>
                      <a:r>
                        <a:rPr lang="en-GB" dirty="0" smtClean="0">
                          <a:latin typeface="Times New Roman" panose="02020603050405020304" pitchFamily="18" charset="0"/>
                          <a:cs typeface="Times New Roman" panose="02020603050405020304" pitchFamily="18" charset="0"/>
                        </a:rPr>
                        <a:t> Analytics Press, 2006.</a:t>
                      </a:r>
                      <a:endParaRPr lang="en-IN" dirty="0">
                        <a:latin typeface="Times New Roman" panose="02020603050405020304" pitchFamily="18" charset="0"/>
                        <a:cs typeface="Times New Roman" panose="02020603050405020304" pitchFamily="18" charset="0"/>
                      </a:endParaRPr>
                    </a:p>
                  </a:txBody>
                  <a:tcPr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90000"/>
                        </a:lnSpc>
                        <a:spcBef>
                          <a:spcPts val="0"/>
                        </a:spcBef>
                        <a:spcAft>
                          <a:spcPts val="0"/>
                        </a:spcAft>
                        <a:buClr>
                          <a:srgbClr val="000000"/>
                        </a:buClr>
                        <a:buSzPts val="1450"/>
                        <a:buFont typeface="Arial"/>
                        <a:buNone/>
                      </a:pPr>
                      <a:r>
                        <a:rPr lang="en-GB" dirty="0" smtClean="0">
                          <a:latin typeface="Times New Roman" panose="02020603050405020304" pitchFamily="18" charset="0"/>
                          <a:cs typeface="Times New Roman" panose="02020603050405020304" pitchFamily="18" charset="0"/>
                        </a:rPr>
                        <a:t>Data visualization techniques, dashboard design, graphs, analytical tools</a:t>
                      </a:r>
                      <a:endParaRPr sz="14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90000"/>
                        </a:lnSpc>
                        <a:spcBef>
                          <a:spcPts val="0"/>
                        </a:spcBef>
                        <a:spcAft>
                          <a:spcPts val="0"/>
                        </a:spcAft>
                        <a:buClr>
                          <a:srgbClr val="000000"/>
                        </a:buClr>
                        <a:buSzPts val="1450"/>
                        <a:buFont typeface="Arial"/>
                        <a:buNone/>
                      </a:pPr>
                      <a:r>
                        <a:rPr lang="en-GB" dirty="0" smtClean="0">
                          <a:latin typeface="Times New Roman" panose="02020603050405020304" pitchFamily="18" charset="0"/>
                          <a:cs typeface="Times New Roman" panose="02020603050405020304" pitchFamily="18" charset="0"/>
                        </a:rPr>
                        <a:t>Visual dashboards improved decision-making efficiency. Supports use of charts and green score visualization.</a:t>
                      </a:r>
                      <a:endParaRPr sz="14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graphicFrame>
        <p:nvGraphicFramePr>
          <p:cNvPr id="113" name="Google Shape;113;p16"/>
          <p:cNvGraphicFramePr/>
          <p:nvPr>
            <p:extLst>
              <p:ext uri="{D42A27DB-BD31-4B8C-83A1-F6EECF244321}">
                <p14:modId xmlns:p14="http://schemas.microsoft.com/office/powerpoint/2010/main" val="3877203854"/>
              </p:ext>
            </p:extLst>
          </p:nvPr>
        </p:nvGraphicFramePr>
        <p:xfrm>
          <a:off x="604275" y="425729"/>
          <a:ext cx="10749525" cy="6215217"/>
        </p:xfrm>
        <a:graphic>
          <a:graphicData uri="http://schemas.openxmlformats.org/drawingml/2006/table">
            <a:tbl>
              <a:tblPr firstRow="1" bandRow="1">
                <a:noFill/>
                <a:tableStyleId>{C2993447-EED2-430A-9104-5B1019216223}</a:tableStyleId>
              </a:tblPr>
              <a:tblGrid>
                <a:gridCol w="796925">
                  <a:extLst>
                    <a:ext uri="{9D8B030D-6E8A-4147-A177-3AD203B41FA5}">
                      <a16:colId xmlns:a16="http://schemas.microsoft.com/office/drawing/2014/main" val="20000"/>
                    </a:ext>
                  </a:extLst>
                </a:gridCol>
                <a:gridCol w="4577850">
                  <a:extLst>
                    <a:ext uri="{9D8B030D-6E8A-4147-A177-3AD203B41FA5}">
                      <a16:colId xmlns:a16="http://schemas.microsoft.com/office/drawing/2014/main" val="20001"/>
                    </a:ext>
                  </a:extLst>
                </a:gridCol>
                <a:gridCol w="2687375">
                  <a:extLst>
                    <a:ext uri="{9D8B030D-6E8A-4147-A177-3AD203B41FA5}">
                      <a16:colId xmlns:a16="http://schemas.microsoft.com/office/drawing/2014/main" val="20002"/>
                    </a:ext>
                  </a:extLst>
                </a:gridCol>
                <a:gridCol w="2687375">
                  <a:extLst>
                    <a:ext uri="{9D8B030D-6E8A-4147-A177-3AD203B41FA5}">
                      <a16:colId xmlns:a16="http://schemas.microsoft.com/office/drawing/2014/main" val="20003"/>
                    </a:ext>
                  </a:extLst>
                </a:gridCol>
              </a:tblGrid>
              <a:tr h="1860125">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solidFill>
                            <a:schemeClr val="dk1"/>
                          </a:solidFill>
                        </a:rPr>
                        <a:t>Sl.No.</a:t>
                      </a:r>
                      <a:endParaRPr sz="1800" b="1"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rPr>
                        <a:t>References</a:t>
                      </a:r>
                      <a:endParaRPr sz="1400" u="none" strike="noStrike" cap="none"/>
                    </a:p>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rPr>
                        <a:t>( Journal Papers Only)</a:t>
                      </a:r>
                      <a:endParaRPr sz="1800" b="1"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solidFill>
                            <a:schemeClr val="dk1"/>
                          </a:solidFill>
                        </a:rPr>
                        <a:t>Works carried out  </a:t>
                      </a:r>
                      <a:endParaRPr sz="1400" u="none" strike="noStrike" cap="none"/>
                    </a:p>
                    <a:p>
                      <a:pPr marL="0" marR="0" lvl="0" indent="0" algn="l" rtl="0">
                        <a:lnSpc>
                          <a:spcPct val="100000"/>
                        </a:lnSpc>
                        <a:spcBef>
                          <a:spcPts val="0"/>
                        </a:spcBef>
                        <a:spcAft>
                          <a:spcPts val="0"/>
                        </a:spcAft>
                        <a:buClr>
                          <a:srgbClr val="000000"/>
                        </a:buClr>
                        <a:buSzPts val="1800"/>
                        <a:buFont typeface="Arial"/>
                        <a:buNone/>
                      </a:pPr>
                      <a:r>
                        <a:rPr lang="en-US" sz="1800" b="1" u="none" strike="noStrike" cap="none">
                          <a:solidFill>
                            <a:schemeClr val="dk1"/>
                          </a:solidFill>
                        </a:rPr>
                        <a:t>( with details of Methods/ Materials/ Software/ Algorithms / fabrication / techniques/ components used ) </a:t>
                      </a:r>
                      <a:endParaRPr sz="1800" b="1"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solidFill>
                            <a:schemeClr val="dk1"/>
                          </a:solidFill>
                        </a:rPr>
                        <a:t>Information gathered relevant to your project</a:t>
                      </a:r>
                      <a:endParaRPr sz="1800" b="1"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extLst>
                  <a:ext uri="{0D108BD9-81ED-4DB2-BD59-A6C34878D82A}">
                    <a16:rowId xmlns:a16="http://schemas.microsoft.com/office/drawing/2014/main" val="10000"/>
                  </a:ext>
                </a:extLst>
              </a:tr>
              <a:tr h="736700">
                <a:tc>
                  <a:txBody>
                    <a:bodyPr/>
                    <a:lstStyle/>
                    <a:p>
                      <a:pPr marL="0" marR="0" lvl="0" indent="0" algn="ctr" rtl="0">
                        <a:lnSpc>
                          <a:spcPct val="90000"/>
                        </a:lnSpc>
                        <a:spcBef>
                          <a:spcPts val="0"/>
                        </a:spcBef>
                        <a:spcAft>
                          <a:spcPts val="0"/>
                        </a:spcAft>
                        <a:buClr>
                          <a:srgbClr val="000000"/>
                        </a:buClr>
                        <a:buSzPts val="1600"/>
                        <a:buFont typeface="Arial"/>
                        <a:buNone/>
                      </a:pPr>
                      <a:r>
                        <a:rPr lang="en-US" sz="1600" u="none" strike="noStrike" cap="none">
                          <a:solidFill>
                            <a:srgbClr val="000000"/>
                          </a:solidFill>
                          <a:latin typeface="Cambria"/>
                          <a:ea typeface="Cambria"/>
                          <a:cs typeface="Cambria"/>
                          <a:sym typeface="Cambria"/>
                        </a:rPr>
                        <a:t>6</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90000"/>
                        </a:lnSpc>
                        <a:spcBef>
                          <a:spcPts val="0"/>
                        </a:spcBef>
                        <a:spcAft>
                          <a:spcPts val="0"/>
                        </a:spcAft>
                        <a:buClr>
                          <a:srgbClr val="000000"/>
                        </a:buClr>
                        <a:buSzPts val="1450"/>
                        <a:buFont typeface="Arial"/>
                        <a:buNone/>
                      </a:pPr>
                      <a:r>
                        <a:rPr lang="en-GB" dirty="0" smtClean="0">
                          <a:latin typeface="Times New Roman" panose="02020603050405020304" pitchFamily="18" charset="0"/>
                          <a:cs typeface="Times New Roman" panose="02020603050405020304" pitchFamily="18" charset="0"/>
                        </a:rPr>
                        <a:t>K. </a:t>
                      </a:r>
                      <a:r>
                        <a:rPr lang="en-GB" dirty="0" err="1" smtClean="0">
                          <a:latin typeface="Times New Roman" panose="02020603050405020304" pitchFamily="18" charset="0"/>
                          <a:cs typeface="Times New Roman" panose="02020603050405020304" pitchFamily="18" charset="0"/>
                        </a:rPr>
                        <a:t>Chodorow</a:t>
                      </a:r>
                      <a:r>
                        <a:rPr lang="en-GB" dirty="0" smtClean="0">
                          <a:latin typeface="Times New Roman" panose="02020603050405020304" pitchFamily="18" charset="0"/>
                          <a:cs typeface="Times New Roman" panose="02020603050405020304" pitchFamily="18" charset="0"/>
                        </a:rPr>
                        <a:t>, </a:t>
                      </a:r>
                      <a:r>
                        <a:rPr lang="en-GB" i="1" dirty="0" smtClean="0">
                          <a:latin typeface="Times New Roman" panose="02020603050405020304" pitchFamily="18" charset="0"/>
                          <a:cs typeface="Times New Roman" panose="02020603050405020304" pitchFamily="18" charset="0"/>
                        </a:rPr>
                        <a:t>"MongoDB: The Definitive Guide,"</a:t>
                      </a:r>
                      <a:r>
                        <a:rPr lang="en-GB" dirty="0" smtClean="0">
                          <a:latin typeface="Times New Roman" panose="02020603050405020304" pitchFamily="18" charset="0"/>
                          <a:cs typeface="Times New Roman" panose="02020603050405020304" pitchFamily="18" charset="0"/>
                        </a:rPr>
                        <a:t> O’Reilly, 2019.</a:t>
                      </a:r>
                      <a:endParaRPr sz="14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90000"/>
                        </a:lnSpc>
                        <a:spcBef>
                          <a:spcPts val="0"/>
                        </a:spcBef>
                        <a:spcAft>
                          <a:spcPts val="0"/>
                        </a:spcAft>
                        <a:buClr>
                          <a:srgbClr val="000000"/>
                        </a:buClr>
                        <a:buSzPts val="1450"/>
                        <a:buFont typeface="Arial"/>
                        <a:buNone/>
                      </a:pPr>
                      <a:r>
                        <a:rPr lang="en-IN" dirty="0" smtClean="0">
                          <a:latin typeface="Times New Roman" panose="02020603050405020304" pitchFamily="18" charset="0"/>
                          <a:cs typeface="Times New Roman" panose="02020603050405020304" pitchFamily="18" charset="0"/>
                        </a:rPr>
                        <a:t>NoSQL database, document-based storage, indexing, flexible schema, MongoDB</a:t>
                      </a:r>
                      <a:endParaRPr sz="14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90000"/>
                        </a:lnSpc>
                        <a:spcBef>
                          <a:spcPts val="0"/>
                        </a:spcBef>
                        <a:spcAft>
                          <a:spcPts val="0"/>
                        </a:spcAft>
                        <a:buClr>
                          <a:srgbClr val="000000"/>
                        </a:buClr>
                        <a:buSzPts val="1450"/>
                        <a:buFont typeface="Arial"/>
                        <a:buNone/>
                      </a:pPr>
                      <a:r>
                        <a:rPr lang="en-GB" dirty="0" smtClean="0">
                          <a:latin typeface="Times New Roman" panose="02020603050405020304" pitchFamily="18" charset="0"/>
                          <a:cs typeface="Times New Roman" panose="02020603050405020304" pitchFamily="18" charset="0"/>
                        </a:rPr>
                        <a:t>MongoDB enables efficient handling of large and dynamic data. Supports database design of the project.</a:t>
                      </a:r>
                      <a:endParaRPr sz="14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49650">
                <a:tc>
                  <a:txBody>
                    <a:bodyPr/>
                    <a:lstStyle/>
                    <a:p>
                      <a:pPr marL="0" marR="0" lvl="0" indent="0" algn="ctr" rtl="0">
                        <a:lnSpc>
                          <a:spcPct val="90000"/>
                        </a:lnSpc>
                        <a:spcBef>
                          <a:spcPts val="0"/>
                        </a:spcBef>
                        <a:spcAft>
                          <a:spcPts val="0"/>
                        </a:spcAft>
                        <a:buClr>
                          <a:srgbClr val="000000"/>
                        </a:buClr>
                        <a:buSzPts val="1600"/>
                        <a:buFont typeface="Arial"/>
                        <a:buNone/>
                      </a:pPr>
                      <a:r>
                        <a:rPr lang="en-US" sz="1600" u="none" strike="noStrike" cap="none">
                          <a:solidFill>
                            <a:srgbClr val="000000"/>
                          </a:solidFill>
                          <a:latin typeface="Cambria"/>
                          <a:ea typeface="Cambria"/>
                          <a:cs typeface="Cambria"/>
                          <a:sym typeface="Cambria"/>
                        </a:rPr>
                        <a:t>7</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90000"/>
                        </a:lnSpc>
                        <a:spcBef>
                          <a:spcPts val="0"/>
                        </a:spcBef>
                        <a:spcAft>
                          <a:spcPts val="0"/>
                        </a:spcAft>
                        <a:buClr>
                          <a:srgbClr val="000000"/>
                        </a:buClr>
                        <a:buSzPts val="1450"/>
                        <a:buFont typeface="Arial"/>
                        <a:buNone/>
                      </a:pPr>
                      <a:r>
                        <a:rPr lang="en-GB" dirty="0" smtClean="0">
                          <a:latin typeface="Times New Roman" panose="02020603050405020304" pitchFamily="18" charset="0"/>
                          <a:cs typeface="Times New Roman" panose="02020603050405020304" pitchFamily="18" charset="0"/>
                        </a:rPr>
                        <a:t>J. Power, </a:t>
                      </a:r>
                      <a:r>
                        <a:rPr lang="en-GB" i="1" dirty="0" smtClean="0">
                          <a:latin typeface="Times New Roman" panose="02020603050405020304" pitchFamily="18" charset="0"/>
                          <a:cs typeface="Times New Roman" panose="02020603050405020304" pitchFamily="18" charset="0"/>
                        </a:rPr>
                        <a:t>"Decision Support Systems: Concepts and Resources,"</a:t>
                      </a:r>
                      <a:r>
                        <a:rPr lang="en-GB" dirty="0" smtClean="0">
                          <a:latin typeface="Times New Roman" panose="02020603050405020304" pitchFamily="18" charset="0"/>
                          <a:cs typeface="Times New Roman" panose="02020603050405020304" pitchFamily="18" charset="0"/>
                        </a:rPr>
                        <a:t> Business Expert Press, 2013.</a:t>
                      </a:r>
                      <a:endParaRPr sz="14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90000"/>
                        </a:lnSpc>
                        <a:spcBef>
                          <a:spcPts val="0"/>
                        </a:spcBef>
                        <a:spcAft>
                          <a:spcPts val="0"/>
                        </a:spcAft>
                        <a:buClr>
                          <a:srgbClr val="000000"/>
                        </a:buClr>
                        <a:buSzPts val="1450"/>
                        <a:buFont typeface="Arial"/>
                        <a:buNone/>
                      </a:pPr>
                      <a:r>
                        <a:rPr lang="en-GB" dirty="0" smtClean="0">
                          <a:latin typeface="Times New Roman" panose="02020603050405020304" pitchFamily="18" charset="0"/>
                          <a:cs typeface="Times New Roman" panose="02020603050405020304" pitchFamily="18" charset="0"/>
                        </a:rPr>
                        <a:t>Decision support systems, data analysis, reporting tools, visualization techniques</a:t>
                      </a:r>
                      <a:endParaRPr sz="14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90000"/>
                        </a:lnSpc>
                        <a:spcBef>
                          <a:spcPts val="0"/>
                        </a:spcBef>
                        <a:spcAft>
                          <a:spcPts val="0"/>
                        </a:spcAft>
                        <a:buClr>
                          <a:srgbClr val="000000"/>
                        </a:buClr>
                        <a:buSzPts val="1450"/>
                        <a:buFont typeface="Arial"/>
                        <a:buNone/>
                      </a:pPr>
                      <a:r>
                        <a:rPr lang="en-GB" dirty="0" smtClean="0">
                          <a:latin typeface="Times New Roman" panose="02020603050405020304" pitchFamily="18" charset="0"/>
                          <a:cs typeface="Times New Roman" panose="02020603050405020304" pitchFamily="18" charset="0"/>
                        </a:rPr>
                        <a:t>DSS improves decision-making using data insights. Supports dashboard-based analysis in the system.</a:t>
                      </a:r>
                      <a:endParaRPr sz="14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736700">
                <a:tc>
                  <a:txBody>
                    <a:bodyPr/>
                    <a:lstStyle/>
                    <a:p>
                      <a:pPr marL="0" marR="0" lvl="0" indent="0" algn="ctr" rtl="0">
                        <a:lnSpc>
                          <a:spcPct val="90000"/>
                        </a:lnSpc>
                        <a:spcBef>
                          <a:spcPts val="0"/>
                        </a:spcBef>
                        <a:spcAft>
                          <a:spcPts val="0"/>
                        </a:spcAft>
                        <a:buClr>
                          <a:srgbClr val="000000"/>
                        </a:buClr>
                        <a:buSzPts val="1600"/>
                        <a:buFont typeface="Arial"/>
                        <a:buNone/>
                      </a:pPr>
                      <a:r>
                        <a:rPr lang="en-US" sz="1600" u="none" strike="noStrike" cap="none">
                          <a:solidFill>
                            <a:srgbClr val="000000"/>
                          </a:solidFill>
                          <a:latin typeface="Cambria"/>
                          <a:ea typeface="Cambria"/>
                          <a:cs typeface="Cambria"/>
                          <a:sym typeface="Cambria"/>
                        </a:rPr>
                        <a:t>8</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90000"/>
                        </a:lnSpc>
                        <a:spcBef>
                          <a:spcPts val="0"/>
                        </a:spcBef>
                        <a:spcAft>
                          <a:spcPts val="0"/>
                        </a:spcAft>
                        <a:buClr>
                          <a:srgbClr val="000000"/>
                        </a:buClr>
                        <a:buSzPts val="1450"/>
                        <a:buFont typeface="Arial"/>
                        <a:buNone/>
                      </a:pPr>
                      <a:r>
                        <a:rPr lang="en-GB" dirty="0" smtClean="0">
                          <a:latin typeface="Times New Roman" panose="02020603050405020304" pitchFamily="18" charset="0"/>
                          <a:cs typeface="Times New Roman" panose="02020603050405020304" pitchFamily="18" charset="0"/>
                        </a:rPr>
                        <a:t>A. </a:t>
                      </a:r>
                      <a:r>
                        <a:rPr lang="en-GB" dirty="0" err="1" smtClean="0">
                          <a:latin typeface="Times New Roman" panose="02020603050405020304" pitchFamily="18" charset="0"/>
                          <a:cs typeface="Times New Roman" panose="02020603050405020304" pitchFamily="18" charset="0"/>
                        </a:rPr>
                        <a:t>Murugesan</a:t>
                      </a:r>
                      <a:r>
                        <a:rPr lang="en-GB" dirty="0" smtClean="0">
                          <a:latin typeface="Times New Roman" panose="02020603050405020304" pitchFamily="18" charset="0"/>
                          <a:cs typeface="Times New Roman" panose="02020603050405020304" pitchFamily="18" charset="0"/>
                        </a:rPr>
                        <a:t>, </a:t>
                      </a:r>
                      <a:r>
                        <a:rPr lang="en-GB" i="1" dirty="0" smtClean="0">
                          <a:latin typeface="Times New Roman" panose="02020603050405020304" pitchFamily="18" charset="0"/>
                          <a:cs typeface="Times New Roman" panose="02020603050405020304" pitchFamily="18" charset="0"/>
                        </a:rPr>
                        <a:t>"Harnessing Green IT: Principles and Practices,"</a:t>
                      </a:r>
                      <a:r>
                        <a:rPr lang="en-GB" dirty="0" smtClean="0">
                          <a:latin typeface="Times New Roman" panose="02020603050405020304" pitchFamily="18" charset="0"/>
                          <a:cs typeface="Times New Roman" panose="02020603050405020304" pitchFamily="18" charset="0"/>
                        </a:rPr>
                        <a:t> IT Professional, IEEE, 2008.</a:t>
                      </a:r>
                      <a:endParaRPr sz="14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90000"/>
                        </a:lnSpc>
                        <a:spcBef>
                          <a:spcPts val="0"/>
                        </a:spcBef>
                        <a:spcAft>
                          <a:spcPts val="0"/>
                        </a:spcAft>
                        <a:buClr>
                          <a:srgbClr val="000000"/>
                        </a:buClr>
                        <a:buSzPts val="1450"/>
                        <a:buFont typeface="Arial"/>
                        <a:buNone/>
                      </a:pPr>
                      <a:r>
                        <a:rPr lang="en-IN" dirty="0" smtClean="0">
                          <a:latin typeface="Times New Roman" panose="02020603050405020304" pitchFamily="18" charset="0"/>
                          <a:cs typeface="Times New Roman" panose="02020603050405020304" pitchFamily="18" charset="0"/>
                        </a:rPr>
                        <a:t>Green computing, energy optimization, sustainability techniques, resource management</a:t>
                      </a:r>
                      <a:endParaRPr sz="14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90000"/>
                        </a:lnSpc>
                        <a:spcBef>
                          <a:spcPts val="0"/>
                        </a:spcBef>
                        <a:spcAft>
                          <a:spcPts val="0"/>
                        </a:spcAft>
                        <a:buClr>
                          <a:srgbClr val="000000"/>
                        </a:buClr>
                        <a:buSzPts val="1450"/>
                        <a:buFont typeface="Arial"/>
                        <a:buNone/>
                      </a:pPr>
                      <a:r>
                        <a:rPr lang="en-GB" dirty="0" smtClean="0">
                          <a:latin typeface="Times New Roman" panose="02020603050405020304" pitchFamily="18" charset="0"/>
                          <a:cs typeface="Times New Roman" panose="02020603050405020304" pitchFamily="18" charset="0"/>
                        </a:rPr>
                        <a:t>Green IT concepts promote eco-friendly practices. Supports sustainability goals of the project.</a:t>
                      </a:r>
                      <a:endParaRPr sz="14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949650">
                <a:tc>
                  <a:txBody>
                    <a:bodyPr/>
                    <a:lstStyle/>
                    <a:p>
                      <a:pPr marL="0" marR="0" lvl="0" indent="0" algn="ctr" rtl="0">
                        <a:lnSpc>
                          <a:spcPct val="90000"/>
                        </a:lnSpc>
                        <a:spcBef>
                          <a:spcPts val="0"/>
                        </a:spcBef>
                        <a:spcAft>
                          <a:spcPts val="0"/>
                        </a:spcAft>
                        <a:buClr>
                          <a:srgbClr val="000000"/>
                        </a:buClr>
                        <a:buSzPts val="1600"/>
                        <a:buFont typeface="Arial"/>
                        <a:buNone/>
                      </a:pPr>
                      <a:r>
                        <a:rPr lang="en-US" sz="1600" u="none" strike="noStrike" cap="none">
                          <a:solidFill>
                            <a:srgbClr val="000000"/>
                          </a:solidFill>
                          <a:latin typeface="Cambria"/>
                          <a:ea typeface="Cambria"/>
                          <a:cs typeface="Cambria"/>
                          <a:sym typeface="Cambria"/>
                        </a:rPr>
                        <a:t>9</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90000"/>
                        </a:lnSpc>
                        <a:spcBef>
                          <a:spcPts val="0"/>
                        </a:spcBef>
                        <a:spcAft>
                          <a:spcPts val="0"/>
                        </a:spcAft>
                        <a:buClr>
                          <a:srgbClr val="000000"/>
                        </a:buClr>
                        <a:buSzPts val="1450"/>
                        <a:buFont typeface="Arial"/>
                        <a:buNone/>
                      </a:pPr>
                      <a:r>
                        <a:rPr lang="en-GB" dirty="0" smtClean="0">
                          <a:latin typeface="Times New Roman" panose="02020603050405020304" pitchFamily="18" charset="0"/>
                          <a:cs typeface="Times New Roman" panose="02020603050405020304" pitchFamily="18" charset="0"/>
                        </a:rPr>
                        <a:t>T. </a:t>
                      </a:r>
                      <a:r>
                        <a:rPr lang="en-GB" dirty="0" err="1" smtClean="0">
                          <a:latin typeface="Times New Roman" panose="02020603050405020304" pitchFamily="18" charset="0"/>
                          <a:cs typeface="Times New Roman" panose="02020603050405020304" pitchFamily="18" charset="0"/>
                        </a:rPr>
                        <a:t>Erl</a:t>
                      </a:r>
                      <a:r>
                        <a:rPr lang="en-GB" dirty="0" smtClean="0">
                          <a:latin typeface="Times New Roman" panose="02020603050405020304" pitchFamily="18" charset="0"/>
                          <a:cs typeface="Times New Roman" panose="02020603050405020304" pitchFamily="18" charset="0"/>
                        </a:rPr>
                        <a:t>, </a:t>
                      </a:r>
                      <a:r>
                        <a:rPr lang="en-GB" i="1" dirty="0" smtClean="0">
                          <a:latin typeface="Times New Roman" panose="02020603050405020304" pitchFamily="18" charset="0"/>
                          <a:cs typeface="Times New Roman" panose="02020603050405020304" pitchFamily="18" charset="0"/>
                        </a:rPr>
                        <a:t>"Cloud Computing: Concepts, Technology &amp; Architecture,"</a:t>
                      </a:r>
                      <a:r>
                        <a:rPr lang="en-GB" dirty="0" smtClean="0">
                          <a:latin typeface="Times New Roman" panose="02020603050405020304" pitchFamily="18" charset="0"/>
                          <a:cs typeface="Times New Roman" panose="02020603050405020304" pitchFamily="18" charset="0"/>
                        </a:rPr>
                        <a:t> Prentice Hall, 2013.</a:t>
                      </a:r>
                      <a:endParaRPr sz="14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90000"/>
                        </a:lnSpc>
                        <a:spcBef>
                          <a:spcPts val="0"/>
                        </a:spcBef>
                        <a:spcAft>
                          <a:spcPts val="0"/>
                        </a:spcAft>
                        <a:buClr>
                          <a:srgbClr val="000000"/>
                        </a:buClr>
                        <a:buSzPts val="1450"/>
                        <a:buFont typeface="Arial"/>
                        <a:buNone/>
                      </a:pPr>
                      <a:r>
                        <a:rPr lang="en-GB" dirty="0" smtClean="0">
                          <a:latin typeface="Times New Roman" panose="02020603050405020304" pitchFamily="18" charset="0"/>
                          <a:cs typeface="Times New Roman" panose="02020603050405020304" pitchFamily="18" charset="0"/>
                        </a:rPr>
                        <a:t>Cloud computing, distributed systems, APIs, data storage, scalability techniques</a:t>
                      </a:r>
                      <a:endParaRPr sz="14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90000"/>
                        </a:lnSpc>
                        <a:spcBef>
                          <a:spcPts val="0"/>
                        </a:spcBef>
                        <a:spcAft>
                          <a:spcPts val="0"/>
                        </a:spcAft>
                        <a:buClr>
                          <a:srgbClr val="000000"/>
                        </a:buClr>
                        <a:buSzPts val="1450"/>
                        <a:buFont typeface="Arial"/>
                        <a:buNone/>
                      </a:pPr>
                      <a:r>
                        <a:rPr lang="en-GB" dirty="0" smtClean="0">
                          <a:latin typeface="Times New Roman" panose="02020603050405020304" pitchFamily="18" charset="0"/>
                          <a:cs typeface="Times New Roman" panose="02020603050405020304" pitchFamily="18" charset="0"/>
                        </a:rPr>
                        <a:t>Cloud integration improves scalability and accessibility. Useful for future system enhancements.</a:t>
                      </a:r>
                      <a:endParaRPr sz="14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736700">
                <a:tc>
                  <a:txBody>
                    <a:bodyPr/>
                    <a:lstStyle/>
                    <a:p>
                      <a:pPr marL="0" marR="0" lvl="0" indent="0" algn="ctr" rtl="0">
                        <a:lnSpc>
                          <a:spcPct val="90000"/>
                        </a:lnSpc>
                        <a:spcBef>
                          <a:spcPts val="0"/>
                        </a:spcBef>
                        <a:spcAft>
                          <a:spcPts val="0"/>
                        </a:spcAft>
                        <a:buClr>
                          <a:srgbClr val="000000"/>
                        </a:buClr>
                        <a:buSzPts val="1600"/>
                        <a:buFont typeface="Arial"/>
                        <a:buNone/>
                      </a:pPr>
                      <a:r>
                        <a:rPr lang="en-US" sz="1600" u="none" strike="noStrike" cap="none">
                          <a:solidFill>
                            <a:srgbClr val="000000"/>
                          </a:solidFill>
                          <a:latin typeface="Cambria"/>
                          <a:ea typeface="Cambria"/>
                          <a:cs typeface="Cambria"/>
                          <a:sym typeface="Cambria"/>
                        </a:rPr>
                        <a:t>10</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90000"/>
                        </a:lnSpc>
                        <a:spcBef>
                          <a:spcPts val="0"/>
                        </a:spcBef>
                        <a:spcAft>
                          <a:spcPts val="0"/>
                        </a:spcAft>
                        <a:buClr>
                          <a:srgbClr val="000000"/>
                        </a:buClr>
                        <a:buSzPts val="1450"/>
                        <a:buFont typeface="Arial"/>
                        <a:buNone/>
                      </a:pPr>
                      <a:r>
                        <a:rPr lang="en-GB" dirty="0" smtClean="0">
                          <a:latin typeface="Times New Roman" panose="02020603050405020304" pitchFamily="18" charset="0"/>
                          <a:cs typeface="Times New Roman" panose="02020603050405020304" pitchFamily="18" charset="0"/>
                        </a:rPr>
                        <a:t>B. </a:t>
                      </a:r>
                      <a:r>
                        <a:rPr lang="en-GB" dirty="0" err="1" smtClean="0">
                          <a:latin typeface="Times New Roman" panose="02020603050405020304" pitchFamily="18" charset="0"/>
                          <a:cs typeface="Times New Roman" panose="02020603050405020304" pitchFamily="18" charset="0"/>
                        </a:rPr>
                        <a:t>Shneiderman</a:t>
                      </a:r>
                      <a:r>
                        <a:rPr lang="en-GB" dirty="0" smtClean="0">
                          <a:latin typeface="Times New Roman" panose="02020603050405020304" pitchFamily="18" charset="0"/>
                          <a:cs typeface="Times New Roman" panose="02020603050405020304" pitchFamily="18" charset="0"/>
                        </a:rPr>
                        <a:t>, </a:t>
                      </a:r>
                      <a:r>
                        <a:rPr lang="en-GB" i="1" dirty="0" smtClean="0">
                          <a:latin typeface="Times New Roman" panose="02020603050405020304" pitchFamily="18" charset="0"/>
                          <a:cs typeface="Times New Roman" panose="02020603050405020304" pitchFamily="18" charset="0"/>
                        </a:rPr>
                        <a:t>"Designing the User Interface,"</a:t>
                      </a:r>
                      <a:r>
                        <a:rPr lang="en-GB" dirty="0" smtClean="0">
                          <a:latin typeface="Times New Roman" panose="02020603050405020304" pitchFamily="18" charset="0"/>
                          <a:cs typeface="Times New Roman" panose="02020603050405020304" pitchFamily="18" charset="0"/>
                        </a:rPr>
                        <a:t> Pearson, 2016.</a:t>
                      </a:r>
                      <a:endParaRPr sz="14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90000"/>
                        </a:lnSpc>
                        <a:spcBef>
                          <a:spcPts val="0"/>
                        </a:spcBef>
                        <a:spcAft>
                          <a:spcPts val="0"/>
                        </a:spcAft>
                        <a:buClr>
                          <a:srgbClr val="000000"/>
                        </a:buClr>
                        <a:buSzPts val="1450"/>
                        <a:buFont typeface="Arial"/>
                        <a:buNone/>
                      </a:pPr>
                      <a:r>
                        <a:rPr lang="en-IN" dirty="0" smtClean="0">
                          <a:latin typeface="Times New Roman" panose="02020603050405020304" pitchFamily="18" charset="0"/>
                          <a:cs typeface="Times New Roman" panose="02020603050405020304" pitchFamily="18" charset="0"/>
                        </a:rPr>
                        <a:t>UI/UX design principles, human-computer interaction, usability techniques, interface design</a:t>
                      </a:r>
                      <a:endParaRPr sz="14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90000"/>
                        </a:lnSpc>
                        <a:spcBef>
                          <a:spcPts val="0"/>
                        </a:spcBef>
                        <a:spcAft>
                          <a:spcPts val="0"/>
                        </a:spcAft>
                        <a:buClr>
                          <a:srgbClr val="000000"/>
                        </a:buClr>
                        <a:buSzPts val="1450"/>
                        <a:buFont typeface="Arial"/>
                        <a:buNone/>
                      </a:pPr>
                      <a:r>
                        <a:rPr lang="en-GB" dirty="0" smtClean="0">
                          <a:latin typeface="Times New Roman" panose="02020603050405020304" pitchFamily="18" charset="0"/>
                          <a:cs typeface="Times New Roman" panose="02020603050405020304" pitchFamily="18" charset="0"/>
                        </a:rPr>
                        <a:t>Good UI design improves user experience and interaction. Supports frontend design of the dashboard.</a:t>
                      </a:r>
                      <a:endParaRPr sz="14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7"/>
          <p:cNvSpPr txBox="1">
            <a:spLocks noGrp="1"/>
          </p:cNvSpPr>
          <p:nvPr>
            <p:ph type="body" idx="1"/>
          </p:nvPr>
        </p:nvSpPr>
        <p:spPr>
          <a:xfrm>
            <a:off x="838200" y="775850"/>
            <a:ext cx="10933800" cy="5186100"/>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a:bodyPr>
          <a:lstStyle/>
          <a:p>
            <a:pPr marL="228600" lvl="0" indent="-228600">
              <a:spcBef>
                <a:spcPts val="300"/>
              </a:spcBef>
              <a:buSzPts val="2000"/>
            </a:pPr>
            <a:r>
              <a:rPr lang="en-GB" sz="2000" dirty="0" smtClean="0">
                <a:latin typeface="Times New Roman" panose="02020603050405020304" pitchFamily="18" charset="0"/>
                <a:cs typeface="Times New Roman" panose="02020603050405020304" pitchFamily="18" charset="0"/>
              </a:rPr>
              <a:t>The </a:t>
            </a:r>
            <a:r>
              <a:rPr lang="en-GB" sz="2000" dirty="0">
                <a:latin typeface="Times New Roman" panose="02020603050405020304" pitchFamily="18" charset="0"/>
                <a:cs typeface="Times New Roman" panose="02020603050405020304" pitchFamily="18" charset="0"/>
              </a:rPr>
              <a:t>system provides a </a:t>
            </a:r>
            <a:r>
              <a:rPr lang="en-GB" sz="2000" b="1" dirty="0">
                <a:latin typeface="Times New Roman" panose="02020603050405020304" pitchFamily="18" charset="0"/>
                <a:cs typeface="Times New Roman" panose="02020603050405020304" pitchFamily="18" charset="0"/>
              </a:rPr>
              <a:t>centralized dashboard</a:t>
            </a:r>
            <a:r>
              <a:rPr lang="en-GB" sz="2000" dirty="0">
                <a:latin typeface="Times New Roman" panose="02020603050405020304" pitchFamily="18" charset="0"/>
                <a:cs typeface="Times New Roman" panose="02020603050405020304" pitchFamily="18" charset="0"/>
              </a:rPr>
              <a:t> to monitor environmental parameters such as energy, water, waste, and carbon emissions in a single platform, improving data accessibility and management</a:t>
            </a:r>
            <a:r>
              <a:rPr lang="en-GB" sz="2000" dirty="0" smtClean="0">
                <a:latin typeface="Times New Roman" panose="02020603050405020304" pitchFamily="18" charset="0"/>
                <a:cs typeface="Times New Roman" panose="02020603050405020304" pitchFamily="18" charset="0"/>
              </a:rPr>
              <a:t>.</a:t>
            </a:r>
            <a:endParaRPr lang="en-GB" sz="2000" dirty="0">
              <a:latin typeface="Times New Roman" panose="02020603050405020304" pitchFamily="18" charset="0"/>
              <a:cs typeface="Times New Roman" panose="02020603050405020304" pitchFamily="18" charset="0"/>
            </a:endParaRPr>
          </a:p>
          <a:p>
            <a:pPr marL="228600" lvl="0" indent="-228600">
              <a:spcBef>
                <a:spcPts val="300"/>
              </a:spcBef>
              <a:buSzPts val="2000"/>
            </a:pPr>
            <a:endParaRPr lang="en-GB" sz="2000" dirty="0" smtClean="0">
              <a:solidFill>
                <a:srgbClr val="000000"/>
              </a:solidFill>
              <a:latin typeface="Times New Roman" panose="02020603050405020304" pitchFamily="18" charset="0"/>
              <a:ea typeface="Cambria"/>
              <a:cs typeface="Times New Roman" panose="02020603050405020304" pitchFamily="18" charset="0"/>
              <a:sym typeface="Cambria"/>
            </a:endParaRPr>
          </a:p>
          <a:p>
            <a:pPr marL="228600" lvl="0" indent="-228600">
              <a:spcBef>
                <a:spcPts val="300"/>
              </a:spcBef>
              <a:buSzPts val="2000"/>
            </a:pPr>
            <a:r>
              <a:rPr lang="en-GB" sz="2000" dirty="0">
                <a:latin typeface="Times New Roman" panose="02020603050405020304" pitchFamily="18" charset="0"/>
                <a:cs typeface="Times New Roman" panose="02020603050405020304" pitchFamily="18" charset="0"/>
              </a:rPr>
              <a:t>It enables </a:t>
            </a:r>
            <a:r>
              <a:rPr lang="en-GB" sz="2000" b="1" dirty="0">
                <a:latin typeface="Times New Roman" panose="02020603050405020304" pitchFamily="18" charset="0"/>
                <a:cs typeface="Times New Roman" panose="02020603050405020304" pitchFamily="18" charset="0"/>
              </a:rPr>
              <a:t>data visualization and analysis</a:t>
            </a:r>
            <a:r>
              <a:rPr lang="en-GB" sz="2000" dirty="0">
                <a:latin typeface="Times New Roman" panose="02020603050405020304" pitchFamily="18" charset="0"/>
                <a:cs typeface="Times New Roman" panose="02020603050405020304" pitchFamily="18" charset="0"/>
              </a:rPr>
              <a:t> using graphs and charts, allowing users to easily understand trends, compare weekly and monthly data, and make informed decisions</a:t>
            </a:r>
            <a:r>
              <a:rPr lang="en-GB" sz="2000" dirty="0" smtClean="0">
                <a:latin typeface="Times New Roman" panose="02020603050405020304" pitchFamily="18" charset="0"/>
                <a:cs typeface="Times New Roman" panose="02020603050405020304" pitchFamily="18" charset="0"/>
              </a:rPr>
              <a:t>.</a:t>
            </a:r>
          </a:p>
          <a:p>
            <a:pPr marL="228600" lvl="0" indent="-228600">
              <a:spcBef>
                <a:spcPts val="300"/>
              </a:spcBef>
              <a:buSzPts val="2000"/>
            </a:pPr>
            <a:endParaRPr lang="en-GB" sz="2000" dirty="0">
              <a:solidFill>
                <a:srgbClr val="000000"/>
              </a:solidFill>
              <a:latin typeface="Times New Roman" panose="02020603050405020304" pitchFamily="18" charset="0"/>
              <a:ea typeface="Cambria"/>
              <a:cs typeface="Times New Roman" panose="02020603050405020304" pitchFamily="18" charset="0"/>
              <a:sym typeface="Cambria"/>
            </a:endParaRPr>
          </a:p>
          <a:p>
            <a:pPr marL="228600" lvl="0" indent="-228600">
              <a:spcBef>
                <a:spcPts val="300"/>
              </a:spcBef>
              <a:buSzPts val="2000"/>
            </a:pPr>
            <a:r>
              <a:rPr lang="en-GB" sz="2000" dirty="0">
                <a:latin typeface="Times New Roman" panose="02020603050405020304" pitchFamily="18" charset="0"/>
                <a:cs typeface="Times New Roman" panose="02020603050405020304" pitchFamily="18" charset="0"/>
              </a:rPr>
              <a:t>The project includes </a:t>
            </a:r>
            <a:r>
              <a:rPr lang="en-GB" sz="2000" b="1" dirty="0">
                <a:latin typeface="Times New Roman" panose="02020603050405020304" pitchFamily="18" charset="0"/>
                <a:cs typeface="Times New Roman" panose="02020603050405020304" pitchFamily="18" charset="0"/>
              </a:rPr>
              <a:t>role-based access control</a:t>
            </a:r>
            <a:r>
              <a:rPr lang="en-GB" sz="2000" dirty="0">
                <a:latin typeface="Times New Roman" panose="02020603050405020304" pitchFamily="18" charset="0"/>
                <a:cs typeface="Times New Roman" panose="02020603050405020304" pitchFamily="18" charset="0"/>
              </a:rPr>
              <a:t>, where the admin can manage data (add, edit, delete) and users can view information and interact through the Contact Us feature</a:t>
            </a:r>
            <a:r>
              <a:rPr lang="en-GB" sz="2000" dirty="0" smtClean="0">
                <a:latin typeface="Times New Roman" panose="02020603050405020304" pitchFamily="18" charset="0"/>
                <a:cs typeface="Times New Roman" panose="02020603050405020304" pitchFamily="18" charset="0"/>
              </a:rPr>
              <a:t>.</a:t>
            </a:r>
          </a:p>
          <a:p>
            <a:pPr marL="228600" lvl="0" indent="-228600">
              <a:spcBef>
                <a:spcPts val="300"/>
              </a:spcBef>
              <a:buSzPts val="2000"/>
            </a:pPr>
            <a:endParaRPr lang="en-GB" sz="2000" dirty="0">
              <a:solidFill>
                <a:srgbClr val="000000"/>
              </a:solidFill>
              <a:latin typeface="Times New Roman" panose="02020603050405020304" pitchFamily="18" charset="0"/>
              <a:ea typeface="Cambria"/>
              <a:cs typeface="Times New Roman" panose="02020603050405020304" pitchFamily="18" charset="0"/>
              <a:sym typeface="Cambria"/>
            </a:endParaRPr>
          </a:p>
          <a:p>
            <a:pPr marL="228600" lvl="0" indent="-228600">
              <a:spcBef>
                <a:spcPts val="300"/>
              </a:spcBef>
              <a:buSzPts val="2000"/>
            </a:pPr>
            <a:r>
              <a:rPr lang="en-GB" sz="2000" dirty="0">
                <a:latin typeface="Times New Roman" panose="02020603050405020304" pitchFamily="18" charset="0"/>
                <a:cs typeface="Times New Roman" panose="02020603050405020304" pitchFamily="18" charset="0"/>
              </a:rPr>
              <a:t>The system calculates a </a:t>
            </a:r>
            <a:r>
              <a:rPr lang="en-GB" sz="2000" b="1" dirty="0">
                <a:latin typeface="Times New Roman" panose="02020603050405020304" pitchFamily="18" charset="0"/>
                <a:cs typeface="Times New Roman" panose="02020603050405020304" pitchFamily="18" charset="0"/>
              </a:rPr>
              <a:t>Green Score</a:t>
            </a:r>
            <a:r>
              <a:rPr lang="en-GB" sz="2000" dirty="0">
                <a:latin typeface="Times New Roman" panose="02020603050405020304" pitchFamily="18" charset="0"/>
                <a:cs typeface="Times New Roman" panose="02020603050405020304" pitchFamily="18" charset="0"/>
              </a:rPr>
              <a:t> based on multiple parameters, helping to evaluate overall campus sustainability performance in a simplified and measurable way</a:t>
            </a:r>
            <a:r>
              <a:rPr lang="en-GB" sz="2000" dirty="0" smtClean="0">
                <a:latin typeface="Times New Roman" panose="02020603050405020304" pitchFamily="18" charset="0"/>
                <a:cs typeface="Times New Roman" panose="02020603050405020304" pitchFamily="18" charset="0"/>
              </a:rPr>
              <a:t>.</a:t>
            </a:r>
          </a:p>
          <a:p>
            <a:pPr marL="228600" lvl="0" indent="-228600">
              <a:spcBef>
                <a:spcPts val="300"/>
              </a:spcBef>
              <a:buSzPts val="2000"/>
            </a:pPr>
            <a:endParaRPr lang="en-GB" sz="2000" dirty="0">
              <a:solidFill>
                <a:srgbClr val="000000"/>
              </a:solidFill>
              <a:latin typeface="Times New Roman" panose="02020603050405020304" pitchFamily="18" charset="0"/>
              <a:ea typeface="Cambria"/>
              <a:cs typeface="Times New Roman" panose="02020603050405020304" pitchFamily="18" charset="0"/>
              <a:sym typeface="Cambria"/>
            </a:endParaRPr>
          </a:p>
          <a:p>
            <a:pPr marL="228600" lvl="0" indent="-228600">
              <a:spcBef>
                <a:spcPts val="300"/>
              </a:spcBef>
              <a:buSzPts val="2000"/>
            </a:pPr>
            <a:r>
              <a:rPr lang="en-GB" sz="2000" dirty="0">
                <a:latin typeface="Times New Roman" panose="02020603050405020304" pitchFamily="18" charset="0"/>
                <a:cs typeface="Times New Roman" panose="02020603050405020304" pitchFamily="18" charset="0"/>
              </a:rPr>
              <a:t>The scope can be extended to include </a:t>
            </a:r>
            <a:r>
              <a:rPr lang="en-GB" sz="2000" b="1" dirty="0">
                <a:latin typeface="Times New Roman" panose="02020603050405020304" pitchFamily="18" charset="0"/>
                <a:cs typeface="Times New Roman" panose="02020603050405020304" pitchFamily="18" charset="0"/>
              </a:rPr>
              <a:t>future enhancements</a:t>
            </a:r>
            <a:r>
              <a:rPr lang="en-GB" sz="2000" dirty="0">
                <a:latin typeface="Times New Roman" panose="02020603050405020304" pitchFamily="18" charset="0"/>
                <a:cs typeface="Times New Roman" panose="02020603050405020304" pitchFamily="18" charset="0"/>
              </a:rPr>
              <a:t> such as real-time data collection using </a:t>
            </a:r>
            <a:r>
              <a:rPr lang="en-GB" sz="2000" dirty="0" err="1">
                <a:latin typeface="Times New Roman" panose="02020603050405020304" pitchFamily="18" charset="0"/>
                <a:cs typeface="Times New Roman" panose="02020603050405020304" pitchFamily="18" charset="0"/>
              </a:rPr>
              <a:t>IoT</a:t>
            </a:r>
            <a:r>
              <a:rPr lang="en-GB" sz="2000" dirty="0">
                <a:latin typeface="Times New Roman" panose="02020603050405020304" pitchFamily="18" charset="0"/>
                <a:cs typeface="Times New Roman" panose="02020603050405020304" pitchFamily="18" charset="0"/>
              </a:rPr>
              <a:t> devices, cloud integration, and advanced analytics for better performance and scalability</a:t>
            </a:r>
            <a:r>
              <a:rPr lang="en-GB" sz="2000" dirty="0" smtClean="0">
                <a:latin typeface="Times New Roman" panose="02020603050405020304" pitchFamily="18" charset="0"/>
                <a:cs typeface="Times New Roman" panose="02020603050405020304" pitchFamily="18" charset="0"/>
              </a:rPr>
              <a:t>.</a:t>
            </a:r>
          </a:p>
          <a:p>
            <a:pPr marL="228600" lvl="0" indent="-228600">
              <a:spcBef>
                <a:spcPts val="300"/>
              </a:spcBef>
              <a:buSzPts val="2000"/>
            </a:pPr>
            <a:endParaRPr lang="en-GB" sz="2000" dirty="0">
              <a:solidFill>
                <a:srgbClr val="000000"/>
              </a:solidFill>
              <a:latin typeface="Times New Roman" panose="02020603050405020304" pitchFamily="18" charset="0"/>
              <a:ea typeface="Cambria"/>
              <a:cs typeface="Times New Roman" panose="02020603050405020304" pitchFamily="18" charset="0"/>
              <a:sym typeface="Cambria"/>
            </a:endParaRPr>
          </a:p>
          <a:p>
            <a:pPr marL="228600" lvl="0" indent="-228600">
              <a:spcBef>
                <a:spcPts val="300"/>
              </a:spcBef>
              <a:buSzPts val="2000"/>
            </a:pPr>
            <a:r>
              <a:rPr lang="en-GB" sz="2000" dirty="0">
                <a:latin typeface="Times New Roman" panose="02020603050405020304" pitchFamily="18" charset="0"/>
                <a:cs typeface="Times New Roman" panose="02020603050405020304" pitchFamily="18" charset="0"/>
              </a:rPr>
              <a:t>The system supports </a:t>
            </a:r>
            <a:r>
              <a:rPr lang="en-GB" sz="2000" b="1" dirty="0">
                <a:latin typeface="Times New Roman" panose="02020603050405020304" pitchFamily="18" charset="0"/>
                <a:cs typeface="Times New Roman" panose="02020603050405020304" pitchFamily="18" charset="0"/>
              </a:rPr>
              <a:t>user interaction and feedback</a:t>
            </a:r>
            <a:r>
              <a:rPr lang="en-GB" sz="2000" dirty="0">
                <a:latin typeface="Times New Roman" panose="02020603050405020304" pitchFamily="18" charset="0"/>
                <a:cs typeface="Times New Roman" panose="02020603050405020304" pitchFamily="18" charset="0"/>
              </a:rPr>
              <a:t>, allowing users to raise queries or issues through the Contact Us module, which helps improve communication and enhances overall system usability.</a:t>
            </a:r>
            <a:endParaRPr sz="2000" dirty="0">
              <a:solidFill>
                <a:srgbClr val="000000"/>
              </a:solidFill>
              <a:latin typeface="Times New Roman" panose="02020603050405020304" pitchFamily="18" charset="0"/>
              <a:ea typeface="Cambria"/>
              <a:cs typeface="Times New Roman" panose="02020603050405020304" pitchFamily="18" charset="0"/>
              <a:sym typeface="Cambria"/>
            </a:endParaRPr>
          </a:p>
        </p:txBody>
      </p:sp>
      <p:sp>
        <p:nvSpPr>
          <p:cNvPr id="119" name="Google Shape;11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a:solidFill>
                  <a:srgbClr val="385623"/>
                </a:solidFill>
              </a:rPr>
              <a:t>FINAL REVIEW PRESENTATION</a:t>
            </a:r>
            <a:endParaRPr sz="1800" b="1">
              <a:solidFill>
                <a:srgbClr val="385623"/>
              </a:solidFill>
            </a:endParaRPr>
          </a:p>
        </p:txBody>
      </p:sp>
      <p:sp>
        <p:nvSpPr>
          <p:cNvPr id="120" name="Google Shape;12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rgbClr val="385623"/>
                </a:solidFill>
              </a:rPr>
              <a:t>5</a:t>
            </a:fld>
            <a:endParaRPr sz="1800" b="1">
              <a:solidFill>
                <a:srgbClr val="385623"/>
              </a:solidFill>
            </a:endParaRPr>
          </a:p>
        </p:txBody>
      </p:sp>
      <p:sp>
        <p:nvSpPr>
          <p:cNvPr id="121" name="Google Shape;121;p17"/>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a:buNone/>
            </a:pPr>
            <a:r>
              <a:rPr lang="en-US" sz="2400" b="1">
                <a:solidFill>
                  <a:srgbClr val="2F5496"/>
                </a:solidFill>
                <a:latin typeface="Cambria"/>
                <a:ea typeface="Cambria"/>
                <a:cs typeface="Cambria"/>
                <a:sym typeface="Cambria"/>
              </a:rPr>
              <a:t>SCOPE OF THE PROJECT</a:t>
            </a:r>
            <a:endParaRPr sz="2400" b="1">
              <a:solidFill>
                <a:srgbClr val="2F5496"/>
              </a:solidFill>
              <a:latin typeface="Cambria"/>
              <a:ea typeface="Cambria"/>
              <a:cs typeface="Cambria"/>
              <a:sym typeface="Cambria"/>
            </a:endParaRPr>
          </a:p>
        </p:txBody>
      </p:sp>
      <p:sp>
        <p:nvSpPr>
          <p:cNvPr id="122" name="Google Shape;122;p1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800" b="1" dirty="0" smtClean="0">
                <a:solidFill>
                  <a:srgbClr val="385623"/>
                </a:solidFill>
              </a:rPr>
              <a:t>21-04-2026</a:t>
            </a:r>
            <a:endParaRPr sz="1800" b="1" dirty="0">
              <a:solidFill>
                <a:srgbClr val="385623"/>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8"/>
          <p:cNvSpPr txBox="1">
            <a:spLocks noGrp="1"/>
          </p:cNvSpPr>
          <p:nvPr>
            <p:ph type="body" idx="1"/>
          </p:nvPr>
        </p:nvSpPr>
        <p:spPr>
          <a:xfrm>
            <a:off x="838199" y="775855"/>
            <a:ext cx="10674927" cy="5444836"/>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lnSpcReduction="10000"/>
          </a:bodyPr>
          <a:lstStyle/>
          <a:p>
            <a:pPr marL="0" lvl="0" indent="0" algn="l" rtl="0">
              <a:lnSpc>
                <a:spcPct val="90000"/>
              </a:lnSpc>
              <a:spcBef>
                <a:spcPts val="300"/>
              </a:spcBef>
              <a:spcAft>
                <a:spcPts val="0"/>
              </a:spcAft>
              <a:buClr>
                <a:schemeClr val="dk1"/>
              </a:buClr>
              <a:buSzPts val="2000"/>
              <a:buNone/>
            </a:pPr>
            <a:endParaRPr lang="en-GB" sz="2000" dirty="0" smtClean="0">
              <a:solidFill>
                <a:srgbClr val="000000"/>
              </a:solidFill>
              <a:latin typeface="Cambria"/>
              <a:ea typeface="Cambria"/>
              <a:cs typeface="Cambria"/>
              <a:sym typeface="Cambria"/>
            </a:endParaRPr>
          </a:p>
          <a:p>
            <a:pPr marL="228600" lvl="0" indent="-228600">
              <a:spcBef>
                <a:spcPts val="300"/>
              </a:spcBef>
              <a:buSzPts val="2000"/>
            </a:pPr>
            <a:r>
              <a:rPr lang="en-GB" sz="2000" dirty="0">
                <a:latin typeface="Times New Roman" panose="02020603050405020304" pitchFamily="18" charset="0"/>
                <a:cs typeface="Times New Roman" panose="02020603050405020304" pitchFamily="18" charset="0"/>
              </a:rPr>
              <a:t>There is a need for a </a:t>
            </a:r>
            <a:r>
              <a:rPr lang="en-GB" sz="2000" b="1" dirty="0">
                <a:latin typeface="Times New Roman" panose="02020603050405020304" pitchFamily="18" charset="0"/>
                <a:cs typeface="Times New Roman" panose="02020603050405020304" pitchFamily="18" charset="0"/>
              </a:rPr>
              <a:t>centralized system</a:t>
            </a:r>
            <a:r>
              <a:rPr lang="en-GB" sz="2000" dirty="0">
                <a:latin typeface="Times New Roman" panose="02020603050405020304" pitchFamily="18" charset="0"/>
                <a:cs typeface="Times New Roman" panose="02020603050405020304" pitchFamily="18" charset="0"/>
              </a:rPr>
              <a:t> to monitor environmental parameters like energy, water, waste, and carbon, as existing methods are mostly manual and scattered</a:t>
            </a:r>
            <a:r>
              <a:rPr lang="en-GB" sz="2000" dirty="0" smtClean="0">
                <a:latin typeface="Times New Roman" panose="02020603050405020304" pitchFamily="18" charset="0"/>
                <a:cs typeface="Times New Roman" panose="02020603050405020304" pitchFamily="18" charset="0"/>
              </a:rPr>
              <a:t>.</a:t>
            </a:r>
          </a:p>
          <a:p>
            <a:pPr marL="228600" lvl="0" indent="-228600">
              <a:spcBef>
                <a:spcPts val="300"/>
              </a:spcBef>
              <a:buSzPts val="2000"/>
            </a:pPr>
            <a:endParaRPr lang="en-GB" sz="2000" dirty="0">
              <a:solidFill>
                <a:srgbClr val="000000"/>
              </a:solidFill>
              <a:latin typeface="Times New Roman" panose="02020603050405020304" pitchFamily="18" charset="0"/>
              <a:ea typeface="Cambria"/>
              <a:cs typeface="Times New Roman" panose="02020603050405020304" pitchFamily="18" charset="0"/>
              <a:sym typeface="Cambria"/>
            </a:endParaRPr>
          </a:p>
          <a:p>
            <a:pPr marL="228600" lvl="0" indent="-228600">
              <a:spcBef>
                <a:spcPts val="300"/>
              </a:spcBef>
              <a:buSzPts val="2000"/>
            </a:pPr>
            <a:r>
              <a:rPr lang="en-GB" sz="2000" dirty="0">
                <a:latin typeface="Times New Roman" panose="02020603050405020304" pitchFamily="18" charset="0"/>
                <a:cs typeface="Times New Roman" panose="02020603050405020304" pitchFamily="18" charset="0"/>
              </a:rPr>
              <a:t>Current systems lack </a:t>
            </a:r>
            <a:r>
              <a:rPr lang="en-GB" sz="2000" b="1" dirty="0">
                <a:latin typeface="Times New Roman" panose="02020603050405020304" pitchFamily="18" charset="0"/>
                <a:cs typeface="Times New Roman" panose="02020603050405020304" pitchFamily="18" charset="0"/>
              </a:rPr>
              <a:t>effective data visualization</a:t>
            </a:r>
            <a:r>
              <a:rPr lang="en-GB" sz="2000" dirty="0">
                <a:latin typeface="Times New Roman" panose="02020603050405020304" pitchFamily="18" charset="0"/>
                <a:cs typeface="Times New Roman" panose="02020603050405020304" pitchFamily="18" charset="0"/>
              </a:rPr>
              <a:t>, making it difficult to understand and </a:t>
            </a:r>
            <a:r>
              <a:rPr lang="en-GB" sz="2000" dirty="0" err="1">
                <a:latin typeface="Times New Roman" panose="02020603050405020304" pitchFamily="18" charset="0"/>
                <a:cs typeface="Times New Roman" panose="02020603050405020304" pitchFamily="18" charset="0"/>
              </a:rPr>
              <a:t>analyze</a:t>
            </a:r>
            <a:r>
              <a:rPr lang="en-GB" sz="2000" dirty="0">
                <a:latin typeface="Times New Roman" panose="02020603050405020304" pitchFamily="18" charset="0"/>
                <a:cs typeface="Times New Roman" panose="02020603050405020304" pitchFamily="18" charset="0"/>
              </a:rPr>
              <a:t> environmental performance easily</a:t>
            </a:r>
            <a:r>
              <a:rPr lang="en-GB" sz="2000" dirty="0" smtClean="0">
                <a:latin typeface="Times New Roman" panose="02020603050405020304" pitchFamily="18" charset="0"/>
                <a:cs typeface="Times New Roman" panose="02020603050405020304" pitchFamily="18" charset="0"/>
              </a:rPr>
              <a:t>.</a:t>
            </a:r>
          </a:p>
          <a:p>
            <a:pPr marL="228600" lvl="0" indent="-228600">
              <a:spcBef>
                <a:spcPts val="300"/>
              </a:spcBef>
              <a:buSzPts val="2000"/>
            </a:pPr>
            <a:endParaRPr lang="en-GB" sz="2000" dirty="0">
              <a:solidFill>
                <a:srgbClr val="000000"/>
              </a:solidFill>
              <a:latin typeface="Times New Roman" panose="02020603050405020304" pitchFamily="18" charset="0"/>
              <a:ea typeface="Cambria"/>
              <a:cs typeface="Times New Roman" panose="02020603050405020304" pitchFamily="18" charset="0"/>
              <a:sym typeface="Cambria"/>
            </a:endParaRPr>
          </a:p>
          <a:p>
            <a:pPr marL="228600" lvl="0" indent="-228600">
              <a:spcBef>
                <a:spcPts val="300"/>
              </a:spcBef>
              <a:buSzPts val="2000"/>
            </a:pPr>
            <a:r>
              <a:rPr lang="en-GB" sz="2000" dirty="0">
                <a:latin typeface="Times New Roman" panose="02020603050405020304" pitchFamily="18" charset="0"/>
                <a:cs typeface="Times New Roman" panose="02020603050405020304" pitchFamily="18" charset="0"/>
              </a:rPr>
              <a:t>There is limited awareness about </a:t>
            </a:r>
            <a:r>
              <a:rPr lang="en-GB" sz="2000" b="1" dirty="0">
                <a:latin typeface="Times New Roman" panose="02020603050405020304" pitchFamily="18" charset="0"/>
                <a:cs typeface="Times New Roman" panose="02020603050405020304" pitchFamily="18" charset="0"/>
              </a:rPr>
              <a:t>sustainability practices</a:t>
            </a:r>
            <a:r>
              <a:rPr lang="en-GB" sz="2000" dirty="0">
                <a:latin typeface="Times New Roman" panose="02020603050405020304" pitchFamily="18" charset="0"/>
                <a:cs typeface="Times New Roman" panose="02020603050405020304" pitchFamily="18" charset="0"/>
              </a:rPr>
              <a:t> among users, which requires a system that clearly presents environmental data and insights</a:t>
            </a:r>
            <a:r>
              <a:rPr lang="en-GB" sz="2000" dirty="0" smtClean="0">
                <a:latin typeface="Times New Roman" panose="02020603050405020304" pitchFamily="18" charset="0"/>
                <a:cs typeface="Times New Roman" panose="02020603050405020304" pitchFamily="18" charset="0"/>
              </a:rPr>
              <a:t>.</a:t>
            </a:r>
          </a:p>
          <a:p>
            <a:pPr marL="228600" lvl="0" indent="-228600">
              <a:spcBef>
                <a:spcPts val="300"/>
              </a:spcBef>
              <a:buSzPts val="2000"/>
            </a:pPr>
            <a:endParaRPr lang="en-GB" sz="2000" dirty="0">
              <a:solidFill>
                <a:srgbClr val="000000"/>
              </a:solidFill>
              <a:latin typeface="Times New Roman" panose="02020603050405020304" pitchFamily="18" charset="0"/>
              <a:ea typeface="Cambria"/>
              <a:cs typeface="Times New Roman" panose="02020603050405020304" pitchFamily="18" charset="0"/>
              <a:sym typeface="Cambria"/>
            </a:endParaRPr>
          </a:p>
          <a:p>
            <a:pPr marL="228600" lvl="0" indent="-228600">
              <a:spcBef>
                <a:spcPts val="300"/>
              </a:spcBef>
              <a:buSzPts val="2000"/>
            </a:pPr>
            <a:r>
              <a:rPr lang="en-GB" sz="2000" dirty="0">
                <a:latin typeface="Times New Roman" panose="02020603050405020304" pitchFamily="18" charset="0"/>
                <a:cs typeface="Times New Roman" panose="02020603050405020304" pitchFamily="18" charset="0"/>
              </a:rPr>
              <a:t>Institutions require a </a:t>
            </a:r>
            <a:r>
              <a:rPr lang="en-GB" sz="2000" b="1" dirty="0">
                <a:latin typeface="Times New Roman" panose="02020603050405020304" pitchFamily="18" charset="0"/>
                <a:cs typeface="Times New Roman" panose="02020603050405020304" pitchFamily="18" charset="0"/>
              </a:rPr>
              <a:t>data-driven approach</a:t>
            </a:r>
            <a:r>
              <a:rPr lang="en-GB" sz="2000" dirty="0">
                <a:latin typeface="Times New Roman" panose="02020603050405020304" pitchFamily="18" charset="0"/>
                <a:cs typeface="Times New Roman" panose="02020603050405020304" pitchFamily="18" charset="0"/>
              </a:rPr>
              <a:t> to identify inefficiencies and take informed decisions for better resource management</a:t>
            </a:r>
            <a:r>
              <a:rPr lang="en-GB" sz="2000" dirty="0" smtClean="0">
                <a:latin typeface="Times New Roman" panose="02020603050405020304" pitchFamily="18" charset="0"/>
                <a:cs typeface="Times New Roman" panose="02020603050405020304" pitchFamily="18" charset="0"/>
              </a:rPr>
              <a:t>.</a:t>
            </a:r>
          </a:p>
          <a:p>
            <a:pPr marL="228600" lvl="0" indent="-228600">
              <a:spcBef>
                <a:spcPts val="300"/>
              </a:spcBef>
              <a:buSzPts val="2000"/>
            </a:pPr>
            <a:endParaRPr lang="en-GB" sz="2000" dirty="0">
              <a:solidFill>
                <a:srgbClr val="000000"/>
              </a:solidFill>
              <a:latin typeface="Times New Roman" panose="02020603050405020304" pitchFamily="18" charset="0"/>
              <a:ea typeface="Cambria"/>
              <a:cs typeface="Times New Roman" panose="02020603050405020304" pitchFamily="18" charset="0"/>
              <a:sym typeface="Cambria"/>
            </a:endParaRPr>
          </a:p>
          <a:p>
            <a:pPr marL="228600" lvl="0" indent="-228600">
              <a:spcBef>
                <a:spcPts val="300"/>
              </a:spcBef>
              <a:buSzPts val="2000"/>
            </a:pPr>
            <a:r>
              <a:rPr lang="en-GB" sz="2000" dirty="0">
                <a:latin typeface="Times New Roman" panose="02020603050405020304" pitchFamily="18" charset="0"/>
                <a:cs typeface="Times New Roman" panose="02020603050405020304" pitchFamily="18" charset="0"/>
              </a:rPr>
              <a:t>Existing solutions do not provide a </a:t>
            </a:r>
            <a:r>
              <a:rPr lang="en-GB" sz="2000" b="1" dirty="0">
                <a:latin typeface="Times New Roman" panose="02020603050405020304" pitchFamily="18" charset="0"/>
                <a:cs typeface="Times New Roman" panose="02020603050405020304" pitchFamily="18" charset="0"/>
              </a:rPr>
              <a:t>combined performance metric</a:t>
            </a:r>
            <a:r>
              <a:rPr lang="en-GB" sz="2000" dirty="0">
                <a:latin typeface="Times New Roman" panose="02020603050405020304" pitchFamily="18" charset="0"/>
                <a:cs typeface="Times New Roman" panose="02020603050405020304" pitchFamily="18" charset="0"/>
              </a:rPr>
              <a:t>, creating a need for a unified indicator like the Green Score</a:t>
            </a:r>
            <a:r>
              <a:rPr lang="en-GB" sz="2000" dirty="0" smtClean="0">
                <a:latin typeface="Times New Roman" panose="02020603050405020304" pitchFamily="18" charset="0"/>
                <a:cs typeface="Times New Roman" panose="02020603050405020304" pitchFamily="18" charset="0"/>
              </a:rPr>
              <a:t>.</a:t>
            </a:r>
          </a:p>
          <a:p>
            <a:pPr marL="228600" lvl="0" indent="-228600">
              <a:spcBef>
                <a:spcPts val="300"/>
              </a:spcBef>
              <a:buSzPts val="2000"/>
            </a:pPr>
            <a:endParaRPr lang="en-GB" sz="2000" dirty="0">
              <a:solidFill>
                <a:srgbClr val="000000"/>
              </a:solidFill>
              <a:latin typeface="Times New Roman" panose="02020603050405020304" pitchFamily="18" charset="0"/>
              <a:ea typeface="Cambria"/>
              <a:cs typeface="Times New Roman" panose="02020603050405020304" pitchFamily="18" charset="0"/>
              <a:sym typeface="Cambria"/>
            </a:endParaRPr>
          </a:p>
          <a:p>
            <a:pPr marL="228600" lvl="0" indent="-228600">
              <a:spcBef>
                <a:spcPts val="300"/>
              </a:spcBef>
              <a:buSzPts val="2000"/>
            </a:pPr>
            <a:r>
              <a:rPr lang="en-GB" sz="2000" dirty="0">
                <a:latin typeface="Times New Roman" panose="02020603050405020304" pitchFamily="18" charset="0"/>
                <a:cs typeface="Times New Roman" panose="02020603050405020304" pitchFamily="18" charset="0"/>
              </a:rPr>
              <a:t>There is a growing demand for </a:t>
            </a:r>
            <a:r>
              <a:rPr lang="en-GB" sz="2000" b="1" dirty="0">
                <a:latin typeface="Times New Roman" panose="02020603050405020304" pitchFamily="18" charset="0"/>
                <a:cs typeface="Times New Roman" panose="02020603050405020304" pitchFamily="18" charset="0"/>
              </a:rPr>
              <a:t>user-friendly and accessible platforms</a:t>
            </a:r>
            <a:r>
              <a:rPr lang="en-GB" sz="2000" dirty="0">
                <a:latin typeface="Times New Roman" panose="02020603050405020304" pitchFamily="18" charset="0"/>
                <a:cs typeface="Times New Roman" panose="02020603050405020304" pitchFamily="18" charset="0"/>
              </a:rPr>
              <a:t> that support both administrators and users in monitoring and improving campus sustainability.</a:t>
            </a:r>
            <a:endParaRPr sz="2000" dirty="0" smtClean="0">
              <a:solidFill>
                <a:srgbClr val="000000"/>
              </a:solidFill>
              <a:latin typeface="Times New Roman" panose="02020603050405020304" pitchFamily="18" charset="0"/>
              <a:ea typeface="Cambria"/>
              <a:cs typeface="Times New Roman" panose="02020603050405020304" pitchFamily="18" charset="0"/>
              <a:sym typeface="Cambria"/>
            </a:endParaRPr>
          </a:p>
        </p:txBody>
      </p:sp>
      <p:sp>
        <p:nvSpPr>
          <p:cNvPr id="128" name="Google Shape;128;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rgbClr val="385623"/>
                </a:solidFill>
              </a:rPr>
              <a:t>6</a:t>
            </a:fld>
            <a:endParaRPr sz="1800" b="1">
              <a:solidFill>
                <a:srgbClr val="385623"/>
              </a:solidFill>
            </a:endParaRPr>
          </a:p>
        </p:txBody>
      </p:sp>
      <p:sp>
        <p:nvSpPr>
          <p:cNvPr id="129" name="Google Shape;129;p18"/>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a:buNone/>
            </a:pPr>
            <a:r>
              <a:rPr lang="en-US" sz="2400" b="1">
                <a:solidFill>
                  <a:srgbClr val="2F5496"/>
                </a:solidFill>
                <a:latin typeface="Cambria"/>
                <a:ea typeface="Cambria"/>
                <a:cs typeface="Cambria"/>
                <a:sym typeface="Cambria"/>
              </a:rPr>
              <a:t>NEED FOR THE CURRENT STUDY </a:t>
            </a:r>
            <a:endParaRPr sz="2400" b="1">
              <a:solidFill>
                <a:srgbClr val="2F5496"/>
              </a:solidFill>
              <a:latin typeface="Cambria"/>
              <a:ea typeface="Cambria"/>
              <a:cs typeface="Cambria"/>
              <a:sym typeface="Cambria"/>
            </a:endParaRPr>
          </a:p>
        </p:txBody>
      </p:sp>
      <p:sp>
        <p:nvSpPr>
          <p:cNvPr id="130" name="Google Shape;130;p1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a:solidFill>
                  <a:srgbClr val="385623"/>
                </a:solidFill>
              </a:rPr>
              <a:t>FINAL REVIEW PRESENTATION</a:t>
            </a:r>
            <a:endParaRPr sz="1800" b="1">
              <a:solidFill>
                <a:srgbClr val="385623"/>
              </a:solidFill>
            </a:endParaRPr>
          </a:p>
        </p:txBody>
      </p:sp>
      <p:sp>
        <p:nvSpPr>
          <p:cNvPr id="131" name="Google Shape;131;p1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800" b="1" dirty="0" smtClean="0">
                <a:solidFill>
                  <a:srgbClr val="385623"/>
                </a:solidFill>
              </a:rPr>
              <a:t>21-04-2026</a:t>
            </a:r>
            <a:endParaRPr sz="1800" b="1" dirty="0">
              <a:solidFill>
                <a:srgbClr val="385623"/>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7" name="Google Shape;137;p19"/>
          <p:cNvSpPr txBox="1">
            <a:spLocks noGrp="1"/>
          </p:cNvSpPr>
          <p:nvPr>
            <p:ph type="title"/>
          </p:nvPr>
        </p:nvSpPr>
        <p:spPr>
          <a:xfrm>
            <a:off x="912074" y="166560"/>
            <a:ext cx="10515600" cy="4383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a:buNone/>
            </a:pPr>
            <a:r>
              <a:rPr lang="en-US" sz="2400" b="1">
                <a:solidFill>
                  <a:srgbClr val="2F5496"/>
                </a:solidFill>
                <a:latin typeface="Cambria"/>
                <a:ea typeface="Cambria"/>
                <a:cs typeface="Cambria"/>
                <a:sym typeface="Cambria"/>
              </a:rPr>
              <a:t>PROPOSED METHODOLOGY ( Flow Chart) </a:t>
            </a:r>
            <a:endParaRPr sz="2400" b="1">
              <a:solidFill>
                <a:srgbClr val="2F5496"/>
              </a:solidFill>
              <a:latin typeface="Cambria"/>
              <a:ea typeface="Cambria"/>
              <a:cs typeface="Cambria"/>
              <a:sym typeface="Cambria"/>
            </a:endParaRPr>
          </a:p>
        </p:txBody>
      </p:sp>
      <p:sp>
        <p:nvSpPr>
          <p:cNvPr id="138" name="Google Shape;138;p1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rgbClr val="385623"/>
                </a:solidFill>
              </a:rPr>
              <a:t>7</a:t>
            </a:fld>
            <a:endParaRPr sz="1800" b="1">
              <a:solidFill>
                <a:srgbClr val="385623"/>
              </a:solidFill>
            </a:endParaRPr>
          </a:p>
        </p:txBody>
      </p:sp>
      <p:sp>
        <p:nvSpPr>
          <p:cNvPr id="139" name="Google Shape;139;p1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a:solidFill>
                  <a:srgbClr val="385623"/>
                </a:solidFill>
              </a:rPr>
              <a:t>FINAL REVIEW PRESENTATION</a:t>
            </a:r>
            <a:endParaRPr sz="1800" b="1">
              <a:solidFill>
                <a:srgbClr val="385623"/>
              </a:solidFill>
            </a:endParaRPr>
          </a:p>
        </p:txBody>
      </p:sp>
      <p:sp>
        <p:nvSpPr>
          <p:cNvPr id="140" name="Google Shape;140;p1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800" b="1" dirty="0" smtClean="0">
                <a:solidFill>
                  <a:srgbClr val="385623"/>
                </a:solidFill>
              </a:rPr>
              <a:t>21-04-2026</a:t>
            </a:r>
            <a:endParaRPr sz="1800" b="1" dirty="0">
              <a:solidFill>
                <a:srgbClr val="385623"/>
              </a:solidFill>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1400" y="680720"/>
            <a:ext cx="4800600" cy="55778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0"/>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a:buNone/>
            </a:pPr>
            <a:r>
              <a:rPr lang="en-US" sz="2400" b="1">
                <a:solidFill>
                  <a:srgbClr val="2F5496"/>
                </a:solidFill>
                <a:latin typeface="Cambria"/>
                <a:ea typeface="Cambria"/>
                <a:cs typeface="Cambria"/>
                <a:sym typeface="Cambria"/>
              </a:rPr>
              <a:t>PROPOSED METHODOLOGY ( Gantt Chart) </a:t>
            </a:r>
            <a:endParaRPr sz="2400" b="1">
              <a:solidFill>
                <a:srgbClr val="2F5496"/>
              </a:solidFill>
              <a:latin typeface="Cambria"/>
              <a:ea typeface="Cambria"/>
              <a:cs typeface="Cambria"/>
              <a:sym typeface="Cambria"/>
            </a:endParaRPr>
          </a:p>
        </p:txBody>
      </p:sp>
      <p:sp>
        <p:nvSpPr>
          <p:cNvPr id="146" name="Google Shape;146;p2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rgbClr val="385623"/>
                </a:solidFill>
              </a:rPr>
              <a:t>8</a:t>
            </a:fld>
            <a:endParaRPr sz="1800" b="1">
              <a:solidFill>
                <a:srgbClr val="385623"/>
              </a:solidFill>
            </a:endParaRPr>
          </a:p>
        </p:txBody>
      </p:sp>
      <p:sp>
        <p:nvSpPr>
          <p:cNvPr id="147" name="Google Shape;147;p2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a:solidFill>
                  <a:srgbClr val="385623"/>
                </a:solidFill>
              </a:rPr>
              <a:t>FINAL REVIEW PRESENTATION</a:t>
            </a:r>
            <a:endParaRPr sz="1800" b="1">
              <a:solidFill>
                <a:srgbClr val="385623"/>
              </a:solidFill>
            </a:endParaRPr>
          </a:p>
        </p:txBody>
      </p:sp>
      <p:pic>
        <p:nvPicPr>
          <p:cNvPr id="148" name="Google Shape;148;p20" title="Gantt chart.png"/>
          <p:cNvPicPr preferRelativeResize="0"/>
          <p:nvPr/>
        </p:nvPicPr>
        <p:blipFill>
          <a:blip r:embed="rId3">
            <a:alphaModFix/>
          </a:blip>
          <a:stretch>
            <a:fillRect/>
          </a:stretch>
        </p:blipFill>
        <p:spPr>
          <a:xfrm>
            <a:off x="1257225" y="944012"/>
            <a:ext cx="9936100" cy="4969974"/>
          </a:xfrm>
          <a:prstGeom prst="rect">
            <a:avLst/>
          </a:prstGeom>
          <a:noFill/>
          <a:ln w="9525" cap="flat" cmpd="sng">
            <a:solidFill>
              <a:srgbClr val="C00000"/>
            </a:solidFill>
            <a:prstDash val="solid"/>
            <a:round/>
            <a:headEnd type="none" w="sm" len="sm"/>
            <a:tailEnd type="none" w="sm" len="sm"/>
          </a:ln>
        </p:spPr>
      </p:pic>
      <p:sp>
        <p:nvSpPr>
          <p:cNvPr id="149" name="Google Shape;149;p2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800" b="1" dirty="0" smtClean="0">
                <a:solidFill>
                  <a:srgbClr val="385623"/>
                </a:solidFill>
              </a:rPr>
              <a:t>21-04-2026</a:t>
            </a:r>
            <a:endParaRPr sz="1800" b="1" dirty="0">
              <a:solidFill>
                <a:srgbClr val="385623"/>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1"/>
          <p:cNvSpPr txBox="1">
            <a:spLocks noGrp="1"/>
          </p:cNvSpPr>
          <p:nvPr>
            <p:ph type="body" idx="1"/>
          </p:nvPr>
        </p:nvSpPr>
        <p:spPr>
          <a:xfrm>
            <a:off x="838199" y="775855"/>
            <a:ext cx="10674927" cy="5444836"/>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lnSpcReduction="10000"/>
          </a:bodyPr>
          <a:lstStyle/>
          <a:p>
            <a:pPr marL="228600" lvl="0" indent="-228600" algn="l" rtl="0">
              <a:lnSpc>
                <a:spcPct val="100000"/>
              </a:lnSpc>
              <a:spcBef>
                <a:spcPts val="800"/>
              </a:spcBef>
              <a:spcAft>
                <a:spcPts val="0"/>
              </a:spcAft>
              <a:buClr>
                <a:schemeClr val="dk1"/>
              </a:buClr>
              <a:buSzPts val="2000"/>
              <a:buNone/>
            </a:pPr>
            <a:r>
              <a:rPr lang="en-US" sz="2000" b="1" dirty="0">
                <a:solidFill>
                  <a:srgbClr val="0070C0"/>
                </a:solidFill>
                <a:latin typeface="Cambria"/>
                <a:ea typeface="Cambria"/>
                <a:cs typeface="Cambria"/>
                <a:sym typeface="Cambria"/>
              </a:rPr>
              <a:t>Frontend</a:t>
            </a:r>
            <a:endParaRPr dirty="0"/>
          </a:p>
          <a:p>
            <a:pPr marL="228600" lvl="0" indent="-228600">
              <a:lnSpc>
                <a:spcPct val="100000"/>
              </a:lnSpc>
              <a:spcBef>
                <a:spcPts val="300"/>
              </a:spcBef>
              <a:buSzPts val="2000"/>
            </a:pPr>
            <a:r>
              <a:rPr lang="en-GB" sz="2000" dirty="0">
                <a:latin typeface="Times New Roman" panose="02020603050405020304" pitchFamily="18" charset="0"/>
                <a:cs typeface="Times New Roman" panose="02020603050405020304" pitchFamily="18" charset="0"/>
              </a:rPr>
              <a:t>React.js – Component-based UI framework used to design interactive dashboards for admin and user modules.</a:t>
            </a:r>
            <a:endParaRPr lang="en-US" sz="2000" dirty="0" smtClean="0">
              <a:solidFill>
                <a:srgbClr val="000000"/>
              </a:solidFill>
              <a:latin typeface="Times New Roman" panose="02020603050405020304" pitchFamily="18" charset="0"/>
              <a:ea typeface="Cambria"/>
              <a:cs typeface="Times New Roman" panose="02020603050405020304" pitchFamily="18" charset="0"/>
              <a:sym typeface="Cambria"/>
            </a:endParaRPr>
          </a:p>
          <a:p>
            <a:pPr marL="228600" lvl="0" indent="-228600">
              <a:lnSpc>
                <a:spcPct val="100000"/>
              </a:lnSpc>
              <a:spcBef>
                <a:spcPts val="300"/>
              </a:spcBef>
              <a:buSzPts val="2000"/>
            </a:pPr>
            <a:r>
              <a:rPr lang="en-GB" sz="2000" dirty="0" err="1">
                <a:latin typeface="Times New Roman" panose="02020603050405020304" pitchFamily="18" charset="0"/>
                <a:cs typeface="Times New Roman" panose="02020603050405020304" pitchFamily="18" charset="0"/>
              </a:rPr>
              <a:t>Recharts</a:t>
            </a:r>
            <a:r>
              <a:rPr lang="en-GB" sz="2000" dirty="0">
                <a:latin typeface="Times New Roman" panose="02020603050405020304" pitchFamily="18" charset="0"/>
                <a:cs typeface="Times New Roman" panose="02020603050405020304" pitchFamily="18" charset="0"/>
              </a:rPr>
              <a:t> – Data visualization library used to display environmental data through bar charts, pie charts, and comparison graphs</a:t>
            </a:r>
            <a:r>
              <a:rPr lang="en-GB" sz="2000" dirty="0" smtClean="0">
                <a:latin typeface="Times New Roman" panose="02020603050405020304" pitchFamily="18" charset="0"/>
                <a:cs typeface="Times New Roman" panose="02020603050405020304" pitchFamily="18" charset="0"/>
              </a:rPr>
              <a:t>.</a:t>
            </a:r>
          </a:p>
          <a:p>
            <a:pPr marL="228600" lvl="0" indent="-228600">
              <a:lnSpc>
                <a:spcPct val="100000"/>
              </a:lnSpc>
              <a:spcBef>
                <a:spcPts val="300"/>
              </a:spcBef>
              <a:buSzPts val="2000"/>
            </a:pPr>
            <a:r>
              <a:rPr lang="en-GB" sz="2000" dirty="0" err="1">
                <a:latin typeface="Times New Roman" panose="02020603050405020304" pitchFamily="18" charset="0"/>
                <a:cs typeface="Times New Roman" panose="02020603050405020304" pitchFamily="18" charset="0"/>
              </a:rPr>
              <a:t>Axios</a:t>
            </a:r>
            <a:r>
              <a:rPr lang="en-GB" sz="2000" dirty="0">
                <a:latin typeface="Times New Roman" panose="02020603050405020304" pitchFamily="18" charset="0"/>
                <a:cs typeface="Times New Roman" panose="02020603050405020304" pitchFamily="18" charset="0"/>
              </a:rPr>
              <a:t> – HTTP client used for API communication between React frontend and Flask backend.</a:t>
            </a:r>
            <a:endParaRPr lang="en-US" sz="2000" dirty="0" smtClean="0">
              <a:solidFill>
                <a:srgbClr val="000000"/>
              </a:solidFill>
              <a:latin typeface="Times New Roman" panose="02020603050405020304" pitchFamily="18" charset="0"/>
              <a:ea typeface="Cambria"/>
              <a:cs typeface="Times New Roman" panose="02020603050405020304" pitchFamily="18" charset="0"/>
              <a:sym typeface="Cambria"/>
            </a:endParaRPr>
          </a:p>
          <a:p>
            <a:pPr marL="228600" lvl="0" indent="-228600" algn="l" rtl="0">
              <a:lnSpc>
                <a:spcPct val="100000"/>
              </a:lnSpc>
              <a:spcBef>
                <a:spcPts val="800"/>
              </a:spcBef>
              <a:spcAft>
                <a:spcPts val="0"/>
              </a:spcAft>
              <a:buClr>
                <a:schemeClr val="dk1"/>
              </a:buClr>
              <a:buSzPts val="2000"/>
              <a:buNone/>
            </a:pPr>
            <a:r>
              <a:rPr lang="en-US" sz="2000" b="1" dirty="0" smtClean="0">
                <a:solidFill>
                  <a:srgbClr val="0070C0"/>
                </a:solidFill>
                <a:latin typeface="Cambria"/>
                <a:ea typeface="Cambria"/>
                <a:cs typeface="Cambria"/>
                <a:sym typeface="Cambria"/>
              </a:rPr>
              <a:t>Backend</a:t>
            </a:r>
            <a:endParaRPr dirty="0"/>
          </a:p>
          <a:p>
            <a:pPr marL="228600" lvl="0" indent="-228600">
              <a:lnSpc>
                <a:spcPct val="100000"/>
              </a:lnSpc>
              <a:spcBef>
                <a:spcPts val="300"/>
              </a:spcBef>
              <a:buSzPts val="2000"/>
            </a:pPr>
            <a:r>
              <a:rPr lang="en-GB" sz="2000" dirty="0">
                <a:latin typeface="Times New Roman" panose="02020603050405020304" pitchFamily="18" charset="0"/>
                <a:cs typeface="Times New Roman" panose="02020603050405020304" pitchFamily="18" charset="0"/>
              </a:rPr>
              <a:t>Python with Flask – Lightweight backend framework used to develop RESTful APIs, handle business logic, and manage system operations</a:t>
            </a:r>
            <a:r>
              <a:rPr lang="en-GB" sz="2000" dirty="0" smtClean="0">
                <a:latin typeface="Times New Roman" panose="02020603050405020304" pitchFamily="18" charset="0"/>
                <a:cs typeface="Times New Roman" panose="02020603050405020304" pitchFamily="18" charset="0"/>
              </a:rPr>
              <a:t>.</a:t>
            </a:r>
          </a:p>
          <a:p>
            <a:pPr marL="228600" lvl="0" indent="-228600">
              <a:lnSpc>
                <a:spcPct val="100000"/>
              </a:lnSpc>
              <a:spcBef>
                <a:spcPts val="300"/>
              </a:spcBef>
              <a:buSzPts val="2000"/>
            </a:pPr>
            <a:r>
              <a:rPr lang="en-GB" sz="2000" dirty="0">
                <a:latin typeface="Times New Roman" panose="02020603050405020304" pitchFamily="18" charset="0"/>
                <a:cs typeface="Times New Roman" panose="02020603050405020304" pitchFamily="18" charset="0"/>
              </a:rPr>
              <a:t>Data Processing Modules – Implements logic for data comparison, alert generation, and Green Score calculation based on environmental parameters</a:t>
            </a:r>
            <a:r>
              <a:rPr lang="en-GB" sz="2000" dirty="0" smtClean="0">
                <a:latin typeface="Times New Roman" panose="02020603050405020304" pitchFamily="18" charset="0"/>
                <a:cs typeface="Times New Roman" panose="02020603050405020304" pitchFamily="18" charset="0"/>
              </a:rPr>
              <a:t>.</a:t>
            </a:r>
          </a:p>
          <a:p>
            <a:pPr marL="228600" lvl="0" indent="-228600">
              <a:lnSpc>
                <a:spcPct val="100000"/>
              </a:lnSpc>
              <a:spcBef>
                <a:spcPts val="300"/>
              </a:spcBef>
              <a:buSzPts val="2000"/>
            </a:pPr>
            <a:r>
              <a:rPr lang="en-GB" sz="2000" dirty="0">
                <a:latin typeface="Times New Roman" panose="02020603050405020304" pitchFamily="18" charset="0"/>
                <a:cs typeface="Times New Roman" panose="02020603050405020304" pitchFamily="18" charset="0"/>
              </a:rPr>
              <a:t>REST API Integration – Enables communication between frontend and database for fetching, updating, and managing data.</a:t>
            </a:r>
            <a:endParaRPr lang="en-US" sz="2000" dirty="0" smtClean="0">
              <a:solidFill>
                <a:srgbClr val="000000"/>
              </a:solidFill>
              <a:latin typeface="Times New Roman" panose="02020603050405020304" pitchFamily="18" charset="0"/>
              <a:ea typeface="Cambria"/>
              <a:cs typeface="Times New Roman" panose="02020603050405020304" pitchFamily="18" charset="0"/>
              <a:sym typeface="Cambria"/>
            </a:endParaRPr>
          </a:p>
          <a:p>
            <a:pPr marL="228600" lvl="0" indent="-228600" algn="l" rtl="0">
              <a:lnSpc>
                <a:spcPct val="100000"/>
              </a:lnSpc>
              <a:spcBef>
                <a:spcPts val="800"/>
              </a:spcBef>
              <a:spcAft>
                <a:spcPts val="0"/>
              </a:spcAft>
              <a:buClr>
                <a:schemeClr val="dk1"/>
              </a:buClr>
              <a:buSzPts val="2000"/>
              <a:buNone/>
            </a:pPr>
            <a:r>
              <a:rPr lang="en-US" sz="2000" b="1" dirty="0" smtClean="0">
                <a:solidFill>
                  <a:srgbClr val="0070C0"/>
                </a:solidFill>
                <a:latin typeface="Cambria"/>
                <a:ea typeface="Cambria"/>
                <a:cs typeface="Cambria"/>
                <a:sym typeface="Cambria"/>
              </a:rPr>
              <a:t>Database</a:t>
            </a:r>
          </a:p>
          <a:p>
            <a:pPr marL="228600" lvl="0" indent="-228600">
              <a:lnSpc>
                <a:spcPct val="100000"/>
              </a:lnSpc>
              <a:spcBef>
                <a:spcPts val="300"/>
              </a:spcBef>
              <a:buSzPts val="2000"/>
            </a:pPr>
            <a:r>
              <a:rPr lang="en-GB" sz="2000" dirty="0" smtClean="0">
                <a:latin typeface="Times New Roman" panose="02020603050405020304" pitchFamily="18" charset="0"/>
                <a:cs typeface="Times New Roman" panose="02020603050405020304" pitchFamily="18" charset="0"/>
              </a:rPr>
              <a:t>MongoDB </a:t>
            </a:r>
            <a:r>
              <a:rPr lang="en-GB" sz="2000" dirty="0">
                <a:latin typeface="Times New Roman" panose="02020603050405020304" pitchFamily="18" charset="0"/>
                <a:cs typeface="Times New Roman" panose="02020603050405020304" pitchFamily="18" charset="0"/>
              </a:rPr>
              <a:t>with Mongoose / </a:t>
            </a:r>
            <a:r>
              <a:rPr lang="en-GB" sz="2000" dirty="0" err="1">
                <a:latin typeface="Times New Roman" panose="02020603050405020304" pitchFamily="18" charset="0"/>
                <a:cs typeface="Times New Roman" panose="02020603050405020304" pitchFamily="18" charset="0"/>
              </a:rPr>
              <a:t>PyMongo</a:t>
            </a:r>
            <a:r>
              <a:rPr lang="en-GB" sz="2000" dirty="0">
                <a:latin typeface="Times New Roman" panose="02020603050405020304" pitchFamily="18" charset="0"/>
                <a:cs typeface="Times New Roman" panose="02020603050405020304" pitchFamily="18" charset="0"/>
              </a:rPr>
              <a:t> – NoSQL database used to store environmental data such as energy, water, waste, carbon, and user messages.</a:t>
            </a:r>
            <a:endParaRPr lang="en-US" sz="2000" dirty="0">
              <a:solidFill>
                <a:srgbClr val="000000"/>
              </a:solidFill>
              <a:latin typeface="Times New Roman" panose="02020603050405020304" pitchFamily="18" charset="0"/>
              <a:ea typeface="Cambria"/>
              <a:cs typeface="Times New Roman" panose="02020603050405020304" pitchFamily="18" charset="0"/>
              <a:sym typeface="Cambria"/>
            </a:endParaRPr>
          </a:p>
          <a:p>
            <a:pPr marL="0" lvl="0" indent="0" algn="l" rtl="0">
              <a:lnSpc>
                <a:spcPct val="90000"/>
              </a:lnSpc>
              <a:spcBef>
                <a:spcPts val="300"/>
              </a:spcBef>
              <a:spcAft>
                <a:spcPts val="0"/>
              </a:spcAft>
              <a:buClr>
                <a:schemeClr val="dk1"/>
              </a:buClr>
              <a:buSzPts val="2000"/>
              <a:buNone/>
            </a:pPr>
            <a:endParaRPr dirty="0"/>
          </a:p>
        </p:txBody>
      </p:sp>
      <p:sp>
        <p:nvSpPr>
          <p:cNvPr id="155" name="Google Shape;155;p21"/>
          <p:cNvSpPr txBox="1">
            <a:spLocks noGrp="1"/>
          </p:cNvSpPr>
          <p:nvPr>
            <p:ph type="title"/>
          </p:nvPr>
        </p:nvSpPr>
        <p:spPr>
          <a:xfrm>
            <a:off x="838200" y="123124"/>
            <a:ext cx="10515600" cy="4707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a:buNone/>
            </a:pPr>
            <a:r>
              <a:rPr lang="en-US" sz="2400" b="1" dirty="0">
                <a:solidFill>
                  <a:srgbClr val="2F5496"/>
                </a:solidFill>
                <a:latin typeface="Cambria"/>
                <a:ea typeface="Cambria"/>
                <a:cs typeface="Cambria"/>
                <a:sym typeface="Cambria"/>
              </a:rPr>
              <a:t>CHOICE  OF  COMPONENTS  USED FOR  PROJECT DEVELOPMENT </a:t>
            </a:r>
            <a:endParaRPr sz="2400" b="1" dirty="0">
              <a:solidFill>
                <a:srgbClr val="2F5496"/>
              </a:solidFill>
              <a:latin typeface="Cambria"/>
              <a:ea typeface="Cambria"/>
              <a:cs typeface="Cambria"/>
              <a:sym typeface="Cambria"/>
            </a:endParaRPr>
          </a:p>
        </p:txBody>
      </p:sp>
      <p:sp>
        <p:nvSpPr>
          <p:cNvPr id="156" name="Google Shape;156;p2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rgbClr val="385623"/>
                </a:solidFill>
              </a:rPr>
              <a:t>9</a:t>
            </a:fld>
            <a:endParaRPr sz="1800" b="1">
              <a:solidFill>
                <a:srgbClr val="385623"/>
              </a:solidFill>
            </a:endParaRPr>
          </a:p>
        </p:txBody>
      </p:sp>
      <p:sp>
        <p:nvSpPr>
          <p:cNvPr id="157" name="Google Shape;157;p2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a:solidFill>
                  <a:srgbClr val="385623"/>
                </a:solidFill>
              </a:rPr>
              <a:t>FINAL REVIEW PRESENTATION</a:t>
            </a:r>
            <a:endParaRPr sz="1800" b="1">
              <a:solidFill>
                <a:srgbClr val="385623"/>
              </a:solidFill>
            </a:endParaRPr>
          </a:p>
        </p:txBody>
      </p:sp>
      <p:sp>
        <p:nvSpPr>
          <p:cNvPr id="158" name="Google Shape;158;p2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800" b="1" dirty="0" smtClean="0">
                <a:solidFill>
                  <a:srgbClr val="385623"/>
                </a:solidFill>
              </a:rPr>
              <a:t>21-04-2026</a:t>
            </a:r>
            <a:endParaRPr sz="1800" b="1" dirty="0">
              <a:solidFill>
                <a:srgbClr val="385623"/>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2"/>
          <p:cNvSpPr txBox="1">
            <a:spLocks noGrp="1"/>
          </p:cNvSpPr>
          <p:nvPr>
            <p:ph type="body" idx="1"/>
          </p:nvPr>
        </p:nvSpPr>
        <p:spPr>
          <a:xfrm>
            <a:off x="838200" y="775850"/>
            <a:ext cx="10613700" cy="5445000"/>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fontScale="92500"/>
          </a:bodyPr>
          <a:lstStyle/>
          <a:p>
            <a:pPr marL="228600" lvl="0" indent="-228600" algn="l" rtl="0">
              <a:lnSpc>
                <a:spcPct val="90000"/>
              </a:lnSpc>
              <a:spcBef>
                <a:spcPts val="800"/>
              </a:spcBef>
              <a:spcAft>
                <a:spcPts val="0"/>
              </a:spcAft>
              <a:buClr>
                <a:schemeClr val="dk1"/>
              </a:buClr>
              <a:buSzPts val="2000"/>
              <a:buNone/>
            </a:pPr>
            <a:r>
              <a:rPr lang="en-US" sz="2000" b="1" dirty="0" smtClean="0">
                <a:solidFill>
                  <a:srgbClr val="C00000"/>
                </a:solidFill>
                <a:latin typeface="Cambria"/>
                <a:ea typeface="Cambria"/>
                <a:cs typeface="Cambria"/>
                <a:sym typeface="Cambria"/>
              </a:rPr>
              <a:t>Three-Tier Web </a:t>
            </a:r>
            <a:r>
              <a:rPr lang="en-US" sz="2000" b="1" dirty="0">
                <a:solidFill>
                  <a:srgbClr val="C00000"/>
                </a:solidFill>
                <a:latin typeface="Cambria"/>
                <a:ea typeface="Cambria"/>
                <a:cs typeface="Cambria"/>
                <a:sym typeface="Cambria"/>
              </a:rPr>
              <a:t>Architecture</a:t>
            </a:r>
            <a:endParaRPr sz="2000" b="1" dirty="0">
              <a:solidFill>
                <a:srgbClr val="C00000"/>
              </a:solidFill>
              <a:latin typeface="Cambria"/>
              <a:ea typeface="Cambria"/>
              <a:cs typeface="Cambria"/>
              <a:sym typeface="Cambria"/>
            </a:endParaRPr>
          </a:p>
          <a:p>
            <a:pPr marL="0" lvl="0" indent="0" algn="l" rtl="0">
              <a:lnSpc>
                <a:spcPct val="90000"/>
              </a:lnSpc>
              <a:spcBef>
                <a:spcPts val="800"/>
              </a:spcBef>
              <a:spcAft>
                <a:spcPts val="0"/>
              </a:spcAft>
              <a:buClr>
                <a:schemeClr val="dk1"/>
              </a:buClr>
              <a:buSzPts val="2000"/>
              <a:buNone/>
            </a:pPr>
            <a:endParaRPr sz="2000" b="1" dirty="0">
              <a:solidFill>
                <a:srgbClr val="C00000"/>
              </a:solidFill>
              <a:latin typeface="Cambria"/>
              <a:ea typeface="Cambria"/>
              <a:cs typeface="Cambria"/>
              <a:sym typeface="Cambria"/>
            </a:endParaRPr>
          </a:p>
          <a:p>
            <a:pPr marL="228600" lvl="0" indent="-228600" algn="l" rtl="0">
              <a:lnSpc>
                <a:spcPct val="90000"/>
              </a:lnSpc>
              <a:spcBef>
                <a:spcPts val="400"/>
              </a:spcBef>
              <a:spcAft>
                <a:spcPts val="0"/>
              </a:spcAft>
              <a:buClr>
                <a:schemeClr val="dk1"/>
              </a:buClr>
              <a:buSzPts val="2000"/>
              <a:buNone/>
            </a:pPr>
            <a:r>
              <a:rPr lang="en-US" sz="2000" b="1" dirty="0">
                <a:solidFill>
                  <a:srgbClr val="7030A0"/>
                </a:solidFill>
                <a:latin typeface="Cambria"/>
                <a:ea typeface="Cambria"/>
                <a:cs typeface="Cambria"/>
                <a:sym typeface="Cambria"/>
              </a:rPr>
              <a:t>Presentation Layer (Frontend)</a:t>
            </a:r>
            <a:endParaRPr dirty="0"/>
          </a:p>
          <a:p>
            <a:pPr marL="228600" lvl="0" indent="-228600">
              <a:spcBef>
                <a:spcPts val="300"/>
              </a:spcBef>
              <a:buSzPts val="2000"/>
            </a:pPr>
            <a:r>
              <a:rPr lang="en-GB" sz="2200" dirty="0" smtClean="0">
                <a:latin typeface="Times New Roman" panose="02020603050405020304" pitchFamily="18" charset="0"/>
                <a:cs typeface="Times New Roman" panose="02020603050405020304" pitchFamily="18" charset="0"/>
              </a:rPr>
              <a:t>React.js </a:t>
            </a:r>
            <a:r>
              <a:rPr lang="en-GB" sz="2200" dirty="0">
                <a:latin typeface="Times New Roman" panose="02020603050405020304" pitchFamily="18" charset="0"/>
                <a:cs typeface="Times New Roman" panose="02020603050405020304" pitchFamily="18" charset="0"/>
              </a:rPr>
              <a:t>renders role-based dashboards for admin and user, </a:t>
            </a:r>
            <a:r>
              <a:rPr lang="en-GB" sz="2200" dirty="0" err="1">
                <a:latin typeface="Times New Roman" panose="02020603050405020304" pitchFamily="18" charset="0"/>
                <a:cs typeface="Times New Roman" panose="02020603050405020304" pitchFamily="18" charset="0"/>
              </a:rPr>
              <a:t>Recharts</a:t>
            </a:r>
            <a:r>
              <a:rPr lang="en-GB" sz="2200" dirty="0">
                <a:latin typeface="Times New Roman" panose="02020603050405020304" pitchFamily="18" charset="0"/>
                <a:cs typeface="Times New Roman" panose="02020603050405020304" pitchFamily="18" charset="0"/>
              </a:rPr>
              <a:t> provides data visualization through charts and graphs, and </a:t>
            </a:r>
            <a:r>
              <a:rPr lang="en-GB" sz="2200" dirty="0" err="1">
                <a:latin typeface="Times New Roman" panose="02020603050405020304" pitchFamily="18" charset="0"/>
                <a:cs typeface="Times New Roman" panose="02020603050405020304" pitchFamily="18" charset="0"/>
              </a:rPr>
              <a:t>Axios</a:t>
            </a:r>
            <a:r>
              <a:rPr lang="en-GB" sz="2200" dirty="0">
                <a:latin typeface="Times New Roman" panose="02020603050405020304" pitchFamily="18" charset="0"/>
                <a:cs typeface="Times New Roman" panose="02020603050405020304" pitchFamily="18" charset="0"/>
              </a:rPr>
              <a:t> manages API communication between frontend and backend.</a:t>
            </a:r>
            <a:endParaRPr sz="2200" dirty="0" smtClean="0">
              <a:solidFill>
                <a:srgbClr val="000000"/>
              </a:solidFill>
              <a:latin typeface="Times New Roman" panose="02020603050405020304" pitchFamily="18" charset="0"/>
              <a:ea typeface="Cambria"/>
              <a:cs typeface="Times New Roman" panose="02020603050405020304" pitchFamily="18" charset="0"/>
              <a:sym typeface="Cambria"/>
            </a:endParaRPr>
          </a:p>
          <a:p>
            <a:pPr marL="457200" lvl="0" indent="0" algn="l" rtl="0">
              <a:lnSpc>
                <a:spcPct val="90000"/>
              </a:lnSpc>
              <a:spcBef>
                <a:spcPts val="300"/>
              </a:spcBef>
              <a:spcAft>
                <a:spcPts val="0"/>
              </a:spcAft>
              <a:buNone/>
            </a:pPr>
            <a:endParaRPr sz="2000" dirty="0">
              <a:solidFill>
                <a:srgbClr val="000000"/>
              </a:solidFill>
              <a:latin typeface="Cambria"/>
              <a:ea typeface="Cambria"/>
              <a:cs typeface="Cambria"/>
              <a:sym typeface="Cambria"/>
            </a:endParaRPr>
          </a:p>
          <a:p>
            <a:pPr marL="228600" lvl="0" indent="-228600" algn="l" rtl="0">
              <a:lnSpc>
                <a:spcPct val="90000"/>
              </a:lnSpc>
              <a:spcBef>
                <a:spcPts val="400"/>
              </a:spcBef>
              <a:spcAft>
                <a:spcPts val="0"/>
              </a:spcAft>
              <a:buClr>
                <a:schemeClr val="dk1"/>
              </a:buClr>
              <a:buSzPts val="2000"/>
              <a:buNone/>
            </a:pPr>
            <a:r>
              <a:rPr lang="en-US" sz="2000" b="1" dirty="0">
                <a:solidFill>
                  <a:srgbClr val="7030A0"/>
                </a:solidFill>
                <a:latin typeface="Cambria"/>
                <a:ea typeface="Cambria"/>
                <a:cs typeface="Cambria"/>
                <a:sym typeface="Cambria"/>
              </a:rPr>
              <a:t>Application Layer (Backend)</a:t>
            </a:r>
            <a:endParaRPr dirty="0"/>
          </a:p>
          <a:p>
            <a:pPr marL="228600" lvl="0" indent="-228600">
              <a:spcBef>
                <a:spcPts val="300"/>
              </a:spcBef>
              <a:buSzPts val="2000"/>
            </a:pPr>
            <a:r>
              <a:rPr lang="en-GB" sz="2200" dirty="0" smtClean="0">
                <a:latin typeface="Times New Roman" panose="02020603050405020304" pitchFamily="18" charset="0"/>
                <a:cs typeface="Times New Roman" panose="02020603050405020304" pitchFamily="18" charset="0"/>
              </a:rPr>
              <a:t>Python </a:t>
            </a:r>
            <a:r>
              <a:rPr lang="en-GB" sz="2200" dirty="0">
                <a:latin typeface="Times New Roman" panose="02020603050405020304" pitchFamily="18" charset="0"/>
                <a:cs typeface="Times New Roman" panose="02020603050405020304" pitchFamily="18" charset="0"/>
              </a:rPr>
              <a:t>with Flask processes requests, handles business logic such as data comparison, alert generation, and Green Score calculation, and provides REST APIs for system operations.</a:t>
            </a:r>
            <a:endParaRPr sz="2200" dirty="0">
              <a:solidFill>
                <a:srgbClr val="000000"/>
              </a:solidFill>
              <a:latin typeface="Times New Roman" panose="02020603050405020304" pitchFamily="18" charset="0"/>
              <a:ea typeface="Cambria"/>
              <a:cs typeface="Times New Roman" panose="02020603050405020304" pitchFamily="18" charset="0"/>
              <a:sym typeface="Cambria"/>
            </a:endParaRPr>
          </a:p>
          <a:p>
            <a:pPr marL="457200" lvl="0" indent="0" algn="l" rtl="0">
              <a:lnSpc>
                <a:spcPct val="90000"/>
              </a:lnSpc>
              <a:spcBef>
                <a:spcPts val="300"/>
              </a:spcBef>
              <a:spcAft>
                <a:spcPts val="0"/>
              </a:spcAft>
              <a:buNone/>
            </a:pPr>
            <a:endParaRPr sz="2000" dirty="0">
              <a:solidFill>
                <a:srgbClr val="000000"/>
              </a:solidFill>
              <a:latin typeface="Cambria"/>
              <a:ea typeface="Cambria"/>
              <a:cs typeface="Cambria"/>
              <a:sym typeface="Cambria"/>
            </a:endParaRPr>
          </a:p>
          <a:p>
            <a:pPr marL="228600" lvl="0" indent="-228600" algn="l" rtl="0">
              <a:lnSpc>
                <a:spcPct val="90000"/>
              </a:lnSpc>
              <a:spcBef>
                <a:spcPts val="400"/>
              </a:spcBef>
              <a:spcAft>
                <a:spcPts val="0"/>
              </a:spcAft>
              <a:buClr>
                <a:schemeClr val="dk1"/>
              </a:buClr>
              <a:buSzPts val="2000"/>
              <a:buNone/>
            </a:pPr>
            <a:r>
              <a:rPr lang="en-US" sz="2000" b="1" dirty="0">
                <a:solidFill>
                  <a:srgbClr val="7030A0"/>
                </a:solidFill>
                <a:latin typeface="Cambria"/>
                <a:ea typeface="Cambria"/>
                <a:cs typeface="Cambria"/>
                <a:sym typeface="Cambria"/>
              </a:rPr>
              <a:t>Database Layer</a:t>
            </a:r>
            <a:endParaRPr dirty="0"/>
          </a:p>
          <a:p>
            <a:pPr marL="228600" lvl="0" indent="-228600">
              <a:spcBef>
                <a:spcPts val="300"/>
              </a:spcBef>
              <a:buSzPts val="2000"/>
            </a:pPr>
            <a:r>
              <a:rPr lang="en-IN" sz="2200" dirty="0" smtClean="0">
                <a:latin typeface="Times New Roman" panose="02020603050405020304" pitchFamily="18" charset="0"/>
                <a:cs typeface="Times New Roman" panose="02020603050405020304" pitchFamily="18" charset="0"/>
              </a:rPr>
              <a:t>MongoDB </a:t>
            </a:r>
            <a:r>
              <a:rPr lang="en-IN" sz="2200" dirty="0">
                <a:latin typeface="Times New Roman" panose="02020603050405020304" pitchFamily="18" charset="0"/>
                <a:cs typeface="Times New Roman" panose="02020603050405020304" pitchFamily="18" charset="0"/>
              </a:rPr>
              <a:t>stores environmental data (energy, water, waste, carbon) and user interactions using flexible document-based storage for efficient retrieval and scalability.</a:t>
            </a:r>
            <a:endParaRPr sz="2200" dirty="0">
              <a:solidFill>
                <a:srgbClr val="000000"/>
              </a:solidFill>
              <a:latin typeface="Times New Roman" panose="02020603050405020304" pitchFamily="18" charset="0"/>
              <a:ea typeface="Cambria"/>
              <a:cs typeface="Times New Roman" panose="02020603050405020304" pitchFamily="18" charset="0"/>
              <a:sym typeface="Cambria"/>
            </a:endParaRPr>
          </a:p>
          <a:p>
            <a:pPr marL="457200" lvl="0" indent="0" algn="l" rtl="0">
              <a:lnSpc>
                <a:spcPct val="90000"/>
              </a:lnSpc>
              <a:spcBef>
                <a:spcPts val="300"/>
              </a:spcBef>
              <a:spcAft>
                <a:spcPts val="0"/>
              </a:spcAft>
              <a:buNone/>
            </a:pPr>
            <a:endParaRPr sz="2000" dirty="0">
              <a:solidFill>
                <a:srgbClr val="000000"/>
              </a:solidFill>
              <a:latin typeface="Cambria"/>
              <a:ea typeface="Cambria"/>
              <a:cs typeface="Cambria"/>
              <a:sym typeface="Cambria"/>
            </a:endParaRPr>
          </a:p>
          <a:p>
            <a:pPr marL="228600" lvl="0" indent="-228600" algn="l" rtl="0">
              <a:lnSpc>
                <a:spcPct val="90000"/>
              </a:lnSpc>
              <a:spcBef>
                <a:spcPts val="400"/>
              </a:spcBef>
              <a:spcAft>
                <a:spcPts val="0"/>
              </a:spcAft>
              <a:buClr>
                <a:schemeClr val="dk1"/>
              </a:buClr>
              <a:buSzPts val="2000"/>
              <a:buNone/>
            </a:pPr>
            <a:r>
              <a:rPr lang="en-US" sz="2000" b="1" dirty="0" smtClean="0">
                <a:solidFill>
                  <a:srgbClr val="7030A0"/>
                </a:solidFill>
                <a:latin typeface="Cambria"/>
                <a:ea typeface="Cambria"/>
                <a:cs typeface="Cambria"/>
                <a:sym typeface="Cambria"/>
              </a:rPr>
              <a:t>Analytics &amp; Scoring Logic</a:t>
            </a:r>
            <a:endParaRPr dirty="0"/>
          </a:p>
          <a:p>
            <a:pPr marL="228600" lvl="0" indent="-228600">
              <a:spcBef>
                <a:spcPts val="300"/>
              </a:spcBef>
              <a:buSzPts val="2000"/>
            </a:pPr>
            <a:r>
              <a:rPr lang="en-GB" sz="2200" dirty="0" smtClean="0">
                <a:latin typeface="Times New Roman" panose="02020603050405020304" pitchFamily="18" charset="0"/>
                <a:cs typeface="Times New Roman" panose="02020603050405020304" pitchFamily="18" charset="0"/>
              </a:rPr>
              <a:t>Backend </a:t>
            </a:r>
            <a:r>
              <a:rPr lang="en-GB" sz="2200" dirty="0">
                <a:latin typeface="Times New Roman" panose="02020603050405020304" pitchFamily="18" charset="0"/>
                <a:cs typeface="Times New Roman" panose="02020603050405020304" pitchFamily="18" charset="0"/>
              </a:rPr>
              <a:t>computes Green Score and performs comparative analysis of current and previous data to generate alerts and support sustainability decision-making.</a:t>
            </a:r>
            <a:endParaRPr sz="2200" dirty="0">
              <a:latin typeface="Times New Roman" panose="02020603050405020304" pitchFamily="18" charset="0"/>
              <a:cs typeface="Times New Roman" panose="02020603050405020304" pitchFamily="18" charset="0"/>
            </a:endParaRPr>
          </a:p>
        </p:txBody>
      </p:sp>
      <p:sp>
        <p:nvSpPr>
          <p:cNvPr id="164" name="Google Shape;164;p22"/>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a:buNone/>
            </a:pPr>
            <a:r>
              <a:rPr lang="en-US" sz="2400" b="1" dirty="0">
                <a:solidFill>
                  <a:srgbClr val="2F5496"/>
                </a:solidFill>
                <a:latin typeface="Cambria"/>
                <a:ea typeface="Cambria"/>
                <a:cs typeface="Cambria"/>
                <a:sym typeface="Cambria"/>
              </a:rPr>
              <a:t>DESIGNS (SOFTWARE ARCHITECTURE) </a:t>
            </a:r>
            <a:endParaRPr sz="2400" b="1" dirty="0">
              <a:solidFill>
                <a:srgbClr val="2F5496"/>
              </a:solidFill>
              <a:latin typeface="Cambria"/>
              <a:ea typeface="Cambria"/>
              <a:cs typeface="Cambria"/>
              <a:sym typeface="Cambria"/>
            </a:endParaRPr>
          </a:p>
        </p:txBody>
      </p:sp>
      <p:sp>
        <p:nvSpPr>
          <p:cNvPr id="165" name="Google Shape;165;p2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rgbClr val="385623"/>
                </a:solidFill>
              </a:rPr>
              <a:t>10</a:t>
            </a:fld>
            <a:endParaRPr sz="1800" b="1">
              <a:solidFill>
                <a:srgbClr val="385623"/>
              </a:solidFill>
            </a:endParaRPr>
          </a:p>
        </p:txBody>
      </p:sp>
      <p:sp>
        <p:nvSpPr>
          <p:cNvPr id="166" name="Google Shape;166;p22"/>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a:solidFill>
                  <a:srgbClr val="385623"/>
                </a:solidFill>
              </a:rPr>
              <a:t>FINAL REVIEW PRESENTATION</a:t>
            </a:r>
            <a:endParaRPr sz="1800" b="1">
              <a:solidFill>
                <a:srgbClr val="385623"/>
              </a:solidFill>
            </a:endParaRPr>
          </a:p>
        </p:txBody>
      </p:sp>
      <p:sp>
        <p:nvSpPr>
          <p:cNvPr id="167" name="Google Shape;167;p22"/>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800" b="1" dirty="0" smtClean="0">
                <a:solidFill>
                  <a:srgbClr val="385623"/>
                </a:solidFill>
              </a:rPr>
              <a:t>21-04-2026</a:t>
            </a:r>
            <a:endParaRPr sz="1800" b="1" dirty="0">
              <a:solidFill>
                <a:srgbClr val="385623"/>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3"/>
          <p:cNvSpPr txBox="1">
            <a:spLocks noGrp="1"/>
          </p:cNvSpPr>
          <p:nvPr>
            <p:ph type="body" idx="1"/>
          </p:nvPr>
        </p:nvSpPr>
        <p:spPr>
          <a:xfrm>
            <a:off x="740100" y="785600"/>
            <a:ext cx="10699500" cy="5463900"/>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fontScale="85000" lnSpcReduction="20000"/>
          </a:bodyPr>
          <a:lstStyle/>
          <a:p>
            <a:pPr marL="0" lvl="0" indent="0" algn="l" rtl="0">
              <a:lnSpc>
                <a:spcPct val="100000"/>
              </a:lnSpc>
              <a:spcBef>
                <a:spcPts val="1200"/>
              </a:spcBef>
              <a:spcAft>
                <a:spcPts val="0"/>
              </a:spcAft>
              <a:buNone/>
            </a:pPr>
            <a:r>
              <a:rPr lang="en-US" sz="2000" b="1" dirty="0" smtClean="0">
                <a:solidFill>
                  <a:srgbClr val="C00000"/>
                </a:solidFill>
                <a:latin typeface="Cambria"/>
                <a:ea typeface="Cambria"/>
                <a:cs typeface="Cambria"/>
                <a:sym typeface="Cambria"/>
              </a:rPr>
              <a:t>Overall </a:t>
            </a:r>
            <a:r>
              <a:rPr lang="en-US" sz="2000" b="1" dirty="0">
                <a:solidFill>
                  <a:srgbClr val="C00000"/>
                </a:solidFill>
                <a:latin typeface="Cambria"/>
                <a:ea typeface="Cambria"/>
                <a:cs typeface="Cambria"/>
                <a:sym typeface="Cambria"/>
              </a:rPr>
              <a:t>Dashboard</a:t>
            </a:r>
            <a:endParaRPr sz="2000" b="1" dirty="0">
              <a:solidFill>
                <a:srgbClr val="C00000"/>
              </a:solidFill>
              <a:latin typeface="Cambria"/>
              <a:ea typeface="Cambria"/>
              <a:cs typeface="Cambria"/>
              <a:sym typeface="Cambria"/>
            </a:endParaRPr>
          </a:p>
          <a:p>
            <a:pPr lvl="0" indent="-336550">
              <a:lnSpc>
                <a:spcPct val="100000"/>
              </a:lnSpc>
              <a:spcBef>
                <a:spcPts val="1200"/>
              </a:spcBef>
              <a:buSzPct val="100000"/>
              <a:buFont typeface="Cambria"/>
              <a:buChar char="•"/>
            </a:pPr>
            <a:r>
              <a:rPr lang="en-GB" sz="2000" dirty="0" smtClean="0">
                <a:latin typeface="Times New Roman" panose="02020603050405020304" pitchFamily="18" charset="0"/>
                <a:cs typeface="Times New Roman" panose="02020603050405020304" pitchFamily="18" charset="0"/>
              </a:rPr>
              <a:t>Displays </a:t>
            </a:r>
            <a:r>
              <a:rPr lang="en-GB" sz="2000" dirty="0">
                <a:latin typeface="Times New Roman" panose="02020603050405020304" pitchFamily="18" charset="0"/>
                <a:cs typeface="Times New Roman" panose="02020603050405020304" pitchFamily="18" charset="0"/>
              </a:rPr>
              <a:t>combined environmental data (energy, water, waste, carbon) using charts and summary cards. Provides a clear overview of monthly performance along with pie charts and alert messages for quick decision-making.</a:t>
            </a:r>
            <a:endParaRPr sz="2000" dirty="0">
              <a:latin typeface="Times New Roman" panose="02020603050405020304" pitchFamily="18" charset="0"/>
              <a:ea typeface="Cambria"/>
              <a:cs typeface="Times New Roman" panose="02020603050405020304" pitchFamily="18" charset="0"/>
              <a:sym typeface="Cambria"/>
            </a:endParaRPr>
          </a:p>
          <a:p>
            <a:pPr marL="0" lvl="0" indent="0" algn="l" rtl="0">
              <a:lnSpc>
                <a:spcPct val="115000"/>
              </a:lnSpc>
              <a:spcBef>
                <a:spcPts val="1200"/>
              </a:spcBef>
              <a:spcAft>
                <a:spcPts val="0"/>
              </a:spcAft>
              <a:buNone/>
            </a:pPr>
            <a:r>
              <a:rPr lang="en-US" sz="2000" b="1" dirty="0" smtClean="0">
                <a:solidFill>
                  <a:srgbClr val="C00000"/>
                </a:solidFill>
                <a:latin typeface="Cambria"/>
                <a:ea typeface="Cambria"/>
                <a:cs typeface="Cambria"/>
                <a:sym typeface="Cambria"/>
              </a:rPr>
              <a:t>Energy Dashboard</a:t>
            </a:r>
            <a:endParaRPr sz="2000" b="1" dirty="0">
              <a:solidFill>
                <a:srgbClr val="C00000"/>
              </a:solidFill>
              <a:latin typeface="Cambria"/>
              <a:ea typeface="Cambria"/>
              <a:cs typeface="Cambria"/>
              <a:sym typeface="Cambria"/>
            </a:endParaRPr>
          </a:p>
          <a:p>
            <a:pPr lvl="0" indent="-336550">
              <a:lnSpc>
                <a:spcPct val="115000"/>
              </a:lnSpc>
              <a:spcBef>
                <a:spcPts val="1200"/>
              </a:spcBef>
              <a:buSzPct val="100000"/>
            </a:pPr>
            <a:r>
              <a:rPr lang="en-GB" sz="2000" dirty="0" smtClean="0">
                <a:latin typeface="Times New Roman" panose="02020603050405020304" pitchFamily="18" charset="0"/>
                <a:cs typeface="Times New Roman" panose="02020603050405020304" pitchFamily="18" charset="0"/>
              </a:rPr>
              <a:t>Shows </a:t>
            </a:r>
            <a:r>
              <a:rPr lang="en-GB" sz="2000" dirty="0">
                <a:latin typeface="Times New Roman" panose="02020603050405020304" pitchFamily="18" charset="0"/>
                <a:cs typeface="Times New Roman" panose="02020603050405020304" pitchFamily="18" charset="0"/>
              </a:rPr>
              <a:t>weekly energy consumption using bar charts and compares it with previous month values. Helps in identifying usage patterns and detecting increases or decreases in energy consumption.</a:t>
            </a:r>
            <a:endParaRPr sz="2000" dirty="0">
              <a:latin typeface="Times New Roman" panose="02020603050405020304" pitchFamily="18" charset="0"/>
              <a:ea typeface="Cambria"/>
              <a:cs typeface="Times New Roman" panose="02020603050405020304" pitchFamily="18" charset="0"/>
              <a:sym typeface="Cambria"/>
            </a:endParaRPr>
          </a:p>
          <a:p>
            <a:pPr marL="0" lvl="0" indent="0" algn="l" rtl="0">
              <a:lnSpc>
                <a:spcPct val="115000"/>
              </a:lnSpc>
              <a:spcBef>
                <a:spcPts val="1200"/>
              </a:spcBef>
              <a:spcAft>
                <a:spcPts val="0"/>
              </a:spcAft>
              <a:buNone/>
            </a:pPr>
            <a:r>
              <a:rPr lang="en-US" sz="2000" b="1" dirty="0" smtClean="0">
                <a:solidFill>
                  <a:srgbClr val="C00000"/>
                </a:solidFill>
                <a:latin typeface="Cambria"/>
                <a:ea typeface="Cambria"/>
                <a:cs typeface="Cambria"/>
                <a:sym typeface="Cambria"/>
              </a:rPr>
              <a:t>Water Dashboard</a:t>
            </a:r>
            <a:endParaRPr sz="2000" b="1" dirty="0">
              <a:solidFill>
                <a:srgbClr val="C00000"/>
              </a:solidFill>
              <a:latin typeface="Cambria"/>
              <a:ea typeface="Cambria"/>
              <a:cs typeface="Cambria"/>
              <a:sym typeface="Cambria"/>
            </a:endParaRPr>
          </a:p>
          <a:p>
            <a:pPr lvl="0" indent="-336550">
              <a:lnSpc>
                <a:spcPct val="115000"/>
              </a:lnSpc>
              <a:spcBef>
                <a:spcPts val="1200"/>
              </a:spcBef>
              <a:buSzPct val="100000"/>
            </a:pPr>
            <a:r>
              <a:rPr lang="en-GB" sz="2000" dirty="0" smtClean="0">
                <a:latin typeface="Times New Roman" panose="02020603050405020304" pitchFamily="18" charset="0"/>
                <a:cs typeface="Times New Roman" panose="02020603050405020304" pitchFamily="18" charset="0"/>
              </a:rPr>
              <a:t>Visualizes </a:t>
            </a:r>
            <a:r>
              <a:rPr lang="en-GB" sz="2000" dirty="0">
                <a:latin typeface="Times New Roman" panose="02020603050405020304" pitchFamily="18" charset="0"/>
                <a:cs typeface="Times New Roman" panose="02020603050405020304" pitchFamily="18" charset="0"/>
              </a:rPr>
              <a:t>weekly water usage data and highlights variations through graphical representation. Supports analysis of consumption trends and efficient water resource management.</a:t>
            </a:r>
            <a:endParaRPr sz="2000" dirty="0">
              <a:latin typeface="Times New Roman" panose="02020603050405020304" pitchFamily="18" charset="0"/>
              <a:ea typeface="Cambria"/>
              <a:cs typeface="Times New Roman" panose="02020603050405020304" pitchFamily="18" charset="0"/>
              <a:sym typeface="Cambria"/>
            </a:endParaRPr>
          </a:p>
          <a:p>
            <a:pPr marL="0" lvl="0" indent="0" algn="l" rtl="0">
              <a:lnSpc>
                <a:spcPct val="115000"/>
              </a:lnSpc>
              <a:spcBef>
                <a:spcPts val="1200"/>
              </a:spcBef>
              <a:spcAft>
                <a:spcPts val="0"/>
              </a:spcAft>
              <a:buNone/>
            </a:pPr>
            <a:r>
              <a:rPr lang="en-US" sz="2000" b="1" dirty="0" smtClean="0">
                <a:solidFill>
                  <a:srgbClr val="C00000"/>
                </a:solidFill>
                <a:latin typeface="Cambria"/>
                <a:ea typeface="Cambria"/>
                <a:cs typeface="Cambria"/>
                <a:sym typeface="Cambria"/>
              </a:rPr>
              <a:t>Waste &amp; Carbon Dashboard</a:t>
            </a:r>
            <a:endParaRPr sz="2000" b="1" dirty="0">
              <a:solidFill>
                <a:srgbClr val="C00000"/>
              </a:solidFill>
              <a:latin typeface="Cambria"/>
              <a:ea typeface="Cambria"/>
              <a:cs typeface="Cambria"/>
              <a:sym typeface="Cambria"/>
            </a:endParaRPr>
          </a:p>
          <a:p>
            <a:pPr indent="-336550">
              <a:lnSpc>
                <a:spcPct val="115000"/>
              </a:lnSpc>
              <a:spcBef>
                <a:spcPts val="1200"/>
              </a:spcBef>
              <a:buSzPct val="100000"/>
            </a:pPr>
            <a:r>
              <a:rPr lang="en-GB" sz="2000" dirty="0" smtClean="0">
                <a:latin typeface="Times New Roman" panose="02020603050405020304" pitchFamily="18" charset="0"/>
                <a:cs typeface="Times New Roman" panose="02020603050405020304" pitchFamily="18" charset="0"/>
              </a:rPr>
              <a:t>Displays </a:t>
            </a:r>
            <a:r>
              <a:rPr lang="en-GB" sz="2000" dirty="0">
                <a:latin typeface="Times New Roman" panose="02020603050405020304" pitchFamily="18" charset="0"/>
                <a:cs typeface="Times New Roman" panose="02020603050405020304" pitchFamily="18" charset="0"/>
              </a:rPr>
              <a:t>waste generation and carbon emission data with comparison charts. Helps in understanding environmental impact and identifying areas for improvement in sustainability</a:t>
            </a:r>
            <a:r>
              <a:rPr lang="en-GB" sz="2000" dirty="0" smtClean="0">
                <a:latin typeface="Times New Roman" panose="02020603050405020304" pitchFamily="18" charset="0"/>
                <a:cs typeface="Times New Roman" panose="02020603050405020304" pitchFamily="18" charset="0"/>
              </a:rPr>
              <a:t>.</a:t>
            </a:r>
            <a:endParaRPr sz="2000" dirty="0" smtClean="0">
              <a:latin typeface="Cambria"/>
              <a:ea typeface="Cambria"/>
              <a:cs typeface="Cambria"/>
              <a:sym typeface="Cambria"/>
            </a:endParaRPr>
          </a:p>
          <a:p>
            <a:pPr marL="0" lvl="0" indent="0" algn="l" rtl="0">
              <a:lnSpc>
                <a:spcPct val="115000"/>
              </a:lnSpc>
              <a:spcBef>
                <a:spcPts val="1200"/>
              </a:spcBef>
              <a:spcAft>
                <a:spcPts val="0"/>
              </a:spcAft>
              <a:buNone/>
            </a:pPr>
            <a:r>
              <a:rPr lang="en-US" sz="2000" b="1" dirty="0" smtClean="0">
                <a:solidFill>
                  <a:srgbClr val="C00000"/>
                </a:solidFill>
                <a:latin typeface="Cambria"/>
                <a:ea typeface="Cambria"/>
                <a:cs typeface="Cambria"/>
                <a:sym typeface="Cambria"/>
              </a:rPr>
              <a:t>Green Score Dashboard</a:t>
            </a:r>
            <a:endParaRPr sz="2000" b="1" dirty="0">
              <a:solidFill>
                <a:srgbClr val="C00000"/>
              </a:solidFill>
              <a:latin typeface="Cambria"/>
              <a:ea typeface="Cambria"/>
              <a:cs typeface="Cambria"/>
              <a:sym typeface="Cambria"/>
            </a:endParaRPr>
          </a:p>
          <a:p>
            <a:pPr lvl="0" indent="-336550">
              <a:lnSpc>
                <a:spcPct val="115000"/>
              </a:lnSpc>
              <a:spcBef>
                <a:spcPts val="1200"/>
              </a:spcBef>
              <a:buSzPct val="100000"/>
            </a:pPr>
            <a:r>
              <a:rPr lang="en-GB" sz="2000" dirty="0" smtClean="0">
                <a:latin typeface="Times New Roman" panose="02020603050405020304" pitchFamily="18" charset="0"/>
                <a:cs typeface="Times New Roman" panose="02020603050405020304" pitchFamily="18" charset="0"/>
              </a:rPr>
              <a:t>Calculates </a:t>
            </a:r>
            <a:r>
              <a:rPr lang="en-GB" sz="2000" dirty="0">
                <a:latin typeface="Times New Roman" panose="02020603050405020304" pitchFamily="18" charset="0"/>
                <a:cs typeface="Times New Roman" panose="02020603050405020304" pitchFamily="18" charset="0"/>
              </a:rPr>
              <a:t>and presents an overall sustainability score based on multiple environmental parameters. Provides a simplified evaluation metric to track performance improvements over time.</a:t>
            </a:r>
            <a:endParaRPr sz="2000" dirty="0">
              <a:latin typeface="Times New Roman" panose="02020603050405020304" pitchFamily="18" charset="0"/>
              <a:ea typeface="Cambria"/>
              <a:cs typeface="Times New Roman" panose="02020603050405020304" pitchFamily="18" charset="0"/>
              <a:sym typeface="Cambria"/>
            </a:endParaRPr>
          </a:p>
        </p:txBody>
      </p:sp>
      <p:sp>
        <p:nvSpPr>
          <p:cNvPr id="173" name="Google Shape;173;p23"/>
          <p:cNvSpPr txBox="1">
            <a:spLocks noGrp="1"/>
          </p:cNvSpPr>
          <p:nvPr>
            <p:ph type="title"/>
          </p:nvPr>
        </p:nvSpPr>
        <p:spPr>
          <a:xfrm>
            <a:off x="838200" y="240434"/>
            <a:ext cx="10515600" cy="4383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2F5496"/>
              </a:buClr>
              <a:buSzPts val="2400"/>
              <a:buFont typeface="Cambria"/>
              <a:buNone/>
            </a:pPr>
            <a:r>
              <a:rPr lang="en-US" sz="2400" b="1" dirty="0">
                <a:solidFill>
                  <a:srgbClr val="2F5496"/>
                </a:solidFill>
                <a:latin typeface="Cambria"/>
                <a:ea typeface="Cambria"/>
                <a:cs typeface="Cambria"/>
                <a:sym typeface="Cambria"/>
              </a:rPr>
              <a:t>ANALYSIS OF RESULTS AND DISCUSSION</a:t>
            </a:r>
            <a:endParaRPr sz="2400" b="1" dirty="0">
              <a:solidFill>
                <a:srgbClr val="2F5496"/>
              </a:solidFill>
              <a:latin typeface="Cambria"/>
              <a:ea typeface="Cambria"/>
              <a:cs typeface="Cambria"/>
              <a:sym typeface="Cambria"/>
            </a:endParaRPr>
          </a:p>
        </p:txBody>
      </p:sp>
      <p:sp>
        <p:nvSpPr>
          <p:cNvPr id="174" name="Google Shape;174;p2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rgbClr val="385623"/>
                </a:solidFill>
              </a:rPr>
              <a:t>11</a:t>
            </a:fld>
            <a:endParaRPr sz="1800" b="1">
              <a:solidFill>
                <a:srgbClr val="385623"/>
              </a:solidFill>
            </a:endParaRPr>
          </a:p>
        </p:txBody>
      </p:sp>
      <p:sp>
        <p:nvSpPr>
          <p:cNvPr id="175" name="Google Shape;175;p2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a:solidFill>
                  <a:srgbClr val="385623"/>
                </a:solidFill>
              </a:rPr>
              <a:t>FINAL REVIEW PRESENTATION</a:t>
            </a:r>
            <a:endParaRPr sz="1800" b="1">
              <a:solidFill>
                <a:srgbClr val="385623"/>
              </a:solidFill>
            </a:endParaRPr>
          </a:p>
        </p:txBody>
      </p:sp>
      <p:sp>
        <p:nvSpPr>
          <p:cNvPr id="176" name="Google Shape;176;p2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800" b="1" dirty="0" smtClean="0">
                <a:solidFill>
                  <a:srgbClr val="385623"/>
                </a:solidFill>
              </a:rPr>
              <a:t>21-04-2026</a:t>
            </a:r>
            <a:endParaRPr sz="1800" b="1" dirty="0">
              <a:solidFill>
                <a:srgbClr val="385623"/>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4"/>
          <p:cNvSpPr txBox="1">
            <a:spLocks noGrp="1"/>
          </p:cNvSpPr>
          <p:nvPr>
            <p:ph type="body" idx="1"/>
          </p:nvPr>
        </p:nvSpPr>
        <p:spPr>
          <a:xfrm>
            <a:off x="838199" y="775855"/>
            <a:ext cx="10674900" cy="5444700"/>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a:bodyPr>
          <a:lstStyle/>
          <a:p>
            <a:r>
              <a:rPr lang="en-GB" sz="1800" dirty="0" smtClean="0">
                <a:latin typeface="Times New Roman" panose="02020603050405020304" pitchFamily="18" charset="0"/>
                <a:cs typeface="Times New Roman" panose="02020603050405020304" pitchFamily="18" charset="0"/>
              </a:rPr>
              <a:t>The </a:t>
            </a:r>
            <a:r>
              <a:rPr lang="en-GB" sz="1800" i="1" dirty="0">
                <a:latin typeface="Times New Roman" panose="02020603050405020304" pitchFamily="18" charset="0"/>
                <a:cs typeface="Times New Roman" panose="02020603050405020304" pitchFamily="18" charset="0"/>
              </a:rPr>
              <a:t>Green Campus Performance Dashboard</a:t>
            </a:r>
            <a:r>
              <a:rPr lang="en-GB" sz="1800" dirty="0">
                <a:latin typeface="Times New Roman" panose="02020603050405020304" pitchFamily="18" charset="0"/>
                <a:cs typeface="Times New Roman" panose="02020603050405020304" pitchFamily="18" charset="0"/>
              </a:rPr>
              <a:t> successfully delivers a centralized platform that transforms scattered environmental data into meaningful insights through interactive dashboards and visualizations.</a:t>
            </a:r>
          </a:p>
          <a:p>
            <a:r>
              <a:rPr lang="en-GB" sz="1800" dirty="0">
                <a:latin typeface="Times New Roman" panose="02020603050405020304" pitchFamily="18" charset="0"/>
                <a:cs typeface="Times New Roman" panose="02020603050405020304" pitchFamily="18" charset="0"/>
              </a:rPr>
              <a:t>The integration of React.js, Flask, and MongoDB enables efficient data processing and real-time visualization of energy, water, waste, and carbon parameters, helping users easily identify trends and performance changes.</a:t>
            </a:r>
          </a:p>
          <a:p>
            <a:r>
              <a:rPr lang="en-GB" sz="1800" dirty="0">
                <a:latin typeface="Times New Roman" panose="02020603050405020304" pitchFamily="18" charset="0"/>
                <a:cs typeface="Times New Roman" panose="02020603050405020304" pitchFamily="18" charset="0"/>
              </a:rPr>
              <a:t>The Green Score feature simplifies sustainability evaluation by combining multiple environmental metrics into a single indicator, making it easier for administrators to monitor overall campus performance.</a:t>
            </a:r>
          </a:p>
          <a:p>
            <a:r>
              <a:rPr lang="en-GB" sz="1800" dirty="0">
                <a:latin typeface="Times New Roman" panose="02020603050405020304" pitchFamily="18" charset="0"/>
                <a:cs typeface="Times New Roman" panose="02020603050405020304" pitchFamily="18" charset="0"/>
              </a:rPr>
              <a:t>The role-based access system ensures secure data handling, while the alert mechanism helps in identifying abnormal usage patterns and supports timely decision-making for better resource management</a:t>
            </a:r>
            <a:r>
              <a:rPr lang="en-GB" sz="1800" dirty="0" smtClean="0">
                <a:latin typeface="Times New Roman" panose="02020603050405020304" pitchFamily="18" charset="0"/>
                <a:cs typeface="Times New Roman" panose="02020603050405020304" pitchFamily="18" charset="0"/>
              </a:rPr>
              <a:t>.</a:t>
            </a:r>
          </a:p>
          <a:p>
            <a:r>
              <a:rPr lang="en-GB" sz="1800" dirty="0">
                <a:latin typeface="Times New Roman" panose="02020603050405020304" pitchFamily="18" charset="0"/>
                <a:cs typeface="Times New Roman" panose="02020603050405020304" pitchFamily="18" charset="0"/>
              </a:rPr>
              <a:t>The modular web-based architecture provides flexibility, ease of development, and scalability, making the system suitable for extension to larger campuses or smart city applications</a:t>
            </a:r>
            <a:r>
              <a:rPr lang="en-GB" sz="1800" dirty="0" smtClean="0">
                <a:latin typeface="Times New Roman" panose="02020603050405020304" pitchFamily="18" charset="0"/>
                <a:cs typeface="Times New Roman" panose="02020603050405020304" pitchFamily="18" charset="0"/>
              </a:rPr>
              <a:t>.</a:t>
            </a:r>
          </a:p>
          <a:p>
            <a:endParaRPr sz="1800" dirty="0">
              <a:latin typeface="Times New Roman" panose="02020603050405020304" pitchFamily="18" charset="0"/>
              <a:cs typeface="Times New Roman" panose="02020603050405020304" pitchFamily="18" charset="0"/>
            </a:endParaRPr>
          </a:p>
          <a:p>
            <a:pPr marL="228600" lvl="0" indent="-228600" algn="l" rtl="0">
              <a:lnSpc>
                <a:spcPct val="90000"/>
              </a:lnSpc>
              <a:spcBef>
                <a:spcPts val="800"/>
              </a:spcBef>
              <a:spcAft>
                <a:spcPts val="0"/>
              </a:spcAft>
              <a:buClr>
                <a:schemeClr val="dk1"/>
              </a:buClr>
              <a:buSzPts val="2000"/>
              <a:buNone/>
            </a:pPr>
            <a:r>
              <a:rPr lang="en-US" sz="2000" b="1" dirty="0" smtClean="0">
                <a:solidFill>
                  <a:srgbClr val="C00000"/>
                </a:solidFill>
                <a:latin typeface="Cambria"/>
                <a:ea typeface="Cambria"/>
                <a:cs typeface="Cambria"/>
                <a:sym typeface="Cambria"/>
              </a:rPr>
              <a:t>Future </a:t>
            </a:r>
            <a:r>
              <a:rPr lang="en-US" sz="2000" b="1" dirty="0">
                <a:solidFill>
                  <a:srgbClr val="C00000"/>
                </a:solidFill>
                <a:latin typeface="Cambria"/>
                <a:ea typeface="Cambria"/>
                <a:cs typeface="Cambria"/>
                <a:sym typeface="Cambria"/>
              </a:rPr>
              <a:t>Work</a:t>
            </a:r>
            <a:endParaRPr sz="2000" b="1" dirty="0">
              <a:solidFill>
                <a:srgbClr val="C00000"/>
              </a:solidFill>
              <a:latin typeface="Cambria"/>
              <a:ea typeface="Cambria"/>
              <a:cs typeface="Cambria"/>
              <a:sym typeface="Cambria"/>
            </a:endParaRPr>
          </a:p>
          <a:p>
            <a:pPr lvl="0" indent="0">
              <a:spcBef>
                <a:spcPts val="300"/>
              </a:spcBef>
              <a:buNone/>
            </a:pPr>
            <a:r>
              <a:rPr lang="en-GB" sz="2000" dirty="0">
                <a:latin typeface="Times New Roman" panose="02020603050405020304" pitchFamily="18" charset="0"/>
                <a:cs typeface="Times New Roman" panose="02020603050405020304" pitchFamily="18" charset="0"/>
              </a:rPr>
              <a:t>Future enhancements include integration of </a:t>
            </a:r>
            <a:r>
              <a:rPr lang="en-GB" sz="2000" dirty="0" err="1">
                <a:latin typeface="Times New Roman" panose="02020603050405020304" pitchFamily="18" charset="0"/>
                <a:cs typeface="Times New Roman" panose="02020603050405020304" pitchFamily="18" charset="0"/>
              </a:rPr>
              <a:t>IoT</a:t>
            </a:r>
            <a:r>
              <a:rPr lang="en-GB" sz="2000" dirty="0">
                <a:latin typeface="Times New Roman" panose="02020603050405020304" pitchFamily="18" charset="0"/>
                <a:cs typeface="Times New Roman" panose="02020603050405020304" pitchFamily="18" charset="0"/>
              </a:rPr>
              <a:t> sensors for real-time data collection, mobile application support for better accessibility, advanced analytics for predictive insights, cloud integration for scalability, and automated notification systems for improved user engagement.</a:t>
            </a:r>
            <a:endParaRPr lang="en-US" sz="2000" dirty="0">
              <a:solidFill>
                <a:srgbClr val="000000"/>
              </a:solidFill>
              <a:latin typeface="Times New Roman" panose="02020603050405020304" pitchFamily="18" charset="0"/>
              <a:ea typeface="Cambria"/>
              <a:cs typeface="Times New Roman" panose="02020603050405020304" pitchFamily="18" charset="0"/>
              <a:sym typeface="Cambria"/>
            </a:endParaRPr>
          </a:p>
        </p:txBody>
      </p:sp>
      <p:sp>
        <p:nvSpPr>
          <p:cNvPr id="182" name="Google Shape;182;p24"/>
          <p:cNvSpPr txBox="1">
            <a:spLocks noGrp="1"/>
          </p:cNvSpPr>
          <p:nvPr>
            <p:ph type="title"/>
          </p:nvPr>
        </p:nvSpPr>
        <p:spPr>
          <a:xfrm>
            <a:off x="838200" y="240434"/>
            <a:ext cx="10515600" cy="4383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2F5496"/>
              </a:buClr>
              <a:buSzPts val="2400"/>
              <a:buFont typeface="Cambria"/>
              <a:buNone/>
            </a:pPr>
            <a:r>
              <a:rPr lang="en-US" sz="2400" b="1">
                <a:solidFill>
                  <a:srgbClr val="2F5496"/>
                </a:solidFill>
                <a:latin typeface="Cambria"/>
                <a:ea typeface="Cambria"/>
                <a:cs typeface="Cambria"/>
                <a:sym typeface="Cambria"/>
              </a:rPr>
              <a:t>CONCLUSION</a:t>
            </a:r>
            <a:endParaRPr sz="2400" b="1">
              <a:solidFill>
                <a:srgbClr val="2F5496"/>
              </a:solidFill>
              <a:latin typeface="Cambria"/>
              <a:ea typeface="Cambria"/>
              <a:cs typeface="Cambria"/>
              <a:sym typeface="Cambria"/>
            </a:endParaRPr>
          </a:p>
        </p:txBody>
      </p:sp>
      <p:sp>
        <p:nvSpPr>
          <p:cNvPr id="183" name="Google Shape;183;p2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rgbClr val="385623"/>
                </a:solidFill>
              </a:rPr>
              <a:t>12</a:t>
            </a:fld>
            <a:endParaRPr sz="1800" b="1">
              <a:solidFill>
                <a:srgbClr val="385623"/>
              </a:solidFill>
            </a:endParaRPr>
          </a:p>
        </p:txBody>
      </p:sp>
      <p:sp>
        <p:nvSpPr>
          <p:cNvPr id="184" name="Google Shape;184;p2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a:solidFill>
                  <a:srgbClr val="385623"/>
                </a:solidFill>
              </a:rPr>
              <a:t>FINAL REVIEW PRESENTATION</a:t>
            </a:r>
            <a:endParaRPr sz="1800" b="1">
              <a:solidFill>
                <a:srgbClr val="385623"/>
              </a:solidFill>
            </a:endParaRPr>
          </a:p>
        </p:txBody>
      </p:sp>
      <p:sp>
        <p:nvSpPr>
          <p:cNvPr id="185" name="Google Shape;185;p2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800" b="1" dirty="0" smtClean="0">
                <a:solidFill>
                  <a:srgbClr val="385623"/>
                </a:solidFill>
              </a:rPr>
              <a:t>21-04-2026</a:t>
            </a:r>
            <a:endParaRPr sz="1800" b="1" dirty="0">
              <a:solidFill>
                <a:srgbClr val="385623"/>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5"/>
          <p:cNvSpPr txBox="1">
            <a:spLocks noGrp="1"/>
          </p:cNvSpPr>
          <p:nvPr>
            <p:ph type="body" idx="1"/>
          </p:nvPr>
        </p:nvSpPr>
        <p:spPr>
          <a:xfrm>
            <a:off x="838200" y="911300"/>
            <a:ext cx="10595400" cy="5358600"/>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a:bodyPr>
          <a:lstStyle/>
          <a:p>
            <a:pPr marL="0" lvl="0" indent="0" algn="l" rtl="0">
              <a:lnSpc>
                <a:spcPct val="90000"/>
              </a:lnSpc>
              <a:spcBef>
                <a:spcPts val="300"/>
              </a:spcBef>
              <a:spcAft>
                <a:spcPts val="0"/>
              </a:spcAft>
              <a:buClr>
                <a:schemeClr val="dk1"/>
              </a:buClr>
              <a:buSzPts val="2000"/>
              <a:buNone/>
            </a:pPr>
            <a:endParaRPr lang="en-GB" sz="2000" dirty="0" smtClean="0">
              <a:solidFill>
                <a:srgbClr val="000000"/>
              </a:solidFill>
              <a:latin typeface="Cambria"/>
              <a:ea typeface="Cambria"/>
              <a:cs typeface="Cambria"/>
              <a:sym typeface="Cambria"/>
            </a:endParaRPr>
          </a:p>
          <a:p>
            <a:pPr marL="228600" lvl="0" indent="-228600">
              <a:spcBef>
                <a:spcPts val="300"/>
              </a:spcBef>
              <a:buSzPts val="2000"/>
            </a:pPr>
            <a:r>
              <a:rPr lang="en-GB" sz="2200" dirty="0">
                <a:latin typeface="Times New Roman" panose="02020603050405020304" pitchFamily="18" charset="0"/>
                <a:cs typeface="Times New Roman" panose="02020603050405020304" pitchFamily="18" charset="0"/>
              </a:rPr>
              <a:t>Integration of </a:t>
            </a:r>
            <a:r>
              <a:rPr lang="en-GB" sz="2200" b="1" dirty="0">
                <a:latin typeface="Times New Roman" panose="02020603050405020304" pitchFamily="18" charset="0"/>
                <a:cs typeface="Times New Roman" panose="02020603050405020304" pitchFamily="18" charset="0"/>
              </a:rPr>
              <a:t>real-time data collection</a:t>
            </a:r>
            <a:r>
              <a:rPr lang="en-GB" sz="2200" dirty="0">
                <a:latin typeface="Times New Roman" panose="02020603050405020304" pitchFamily="18" charset="0"/>
                <a:cs typeface="Times New Roman" panose="02020603050405020304" pitchFamily="18" charset="0"/>
              </a:rPr>
              <a:t> using </a:t>
            </a:r>
            <a:r>
              <a:rPr lang="en-GB" sz="2200" dirty="0" err="1">
                <a:latin typeface="Times New Roman" panose="02020603050405020304" pitchFamily="18" charset="0"/>
                <a:cs typeface="Times New Roman" panose="02020603050405020304" pitchFamily="18" charset="0"/>
              </a:rPr>
              <a:t>IoT</a:t>
            </a:r>
            <a:r>
              <a:rPr lang="en-GB" sz="2200" dirty="0">
                <a:latin typeface="Times New Roman" panose="02020603050405020304" pitchFamily="18" charset="0"/>
                <a:cs typeface="Times New Roman" panose="02020603050405020304" pitchFamily="18" charset="0"/>
              </a:rPr>
              <a:t> sensors to replace manual data entry and improve accuracy of environmental monitoring</a:t>
            </a:r>
            <a:r>
              <a:rPr lang="en-GB" sz="2200" dirty="0" smtClean="0">
                <a:latin typeface="Times New Roman" panose="02020603050405020304" pitchFamily="18" charset="0"/>
                <a:cs typeface="Times New Roman" panose="02020603050405020304" pitchFamily="18" charset="0"/>
              </a:rPr>
              <a:t>.</a:t>
            </a:r>
          </a:p>
          <a:p>
            <a:pPr marL="228600" lvl="0" indent="-228600">
              <a:spcBef>
                <a:spcPts val="300"/>
              </a:spcBef>
              <a:buSzPts val="2000"/>
            </a:pPr>
            <a:endParaRPr lang="en-GB" sz="2200" dirty="0">
              <a:solidFill>
                <a:srgbClr val="000000"/>
              </a:solidFill>
              <a:latin typeface="Times New Roman" panose="02020603050405020304" pitchFamily="18" charset="0"/>
              <a:ea typeface="Cambria"/>
              <a:cs typeface="Times New Roman" panose="02020603050405020304" pitchFamily="18" charset="0"/>
              <a:sym typeface="Cambria"/>
            </a:endParaRPr>
          </a:p>
          <a:p>
            <a:pPr marL="228600" lvl="0" indent="-228600">
              <a:spcBef>
                <a:spcPts val="300"/>
              </a:spcBef>
              <a:buSzPts val="2000"/>
            </a:pPr>
            <a:r>
              <a:rPr lang="en-GB" sz="2200" dirty="0">
                <a:latin typeface="Times New Roman" panose="02020603050405020304" pitchFamily="18" charset="0"/>
                <a:cs typeface="Times New Roman" panose="02020603050405020304" pitchFamily="18" charset="0"/>
              </a:rPr>
              <a:t>Enhancement of </a:t>
            </a:r>
            <a:r>
              <a:rPr lang="en-GB" sz="2200" b="1" dirty="0">
                <a:latin typeface="Times New Roman" panose="02020603050405020304" pitchFamily="18" charset="0"/>
                <a:cs typeface="Times New Roman" panose="02020603050405020304" pitchFamily="18" charset="0"/>
              </a:rPr>
              <a:t>data visualization features</a:t>
            </a:r>
            <a:r>
              <a:rPr lang="en-GB" sz="2200" dirty="0">
                <a:latin typeface="Times New Roman" panose="02020603050405020304" pitchFamily="18" charset="0"/>
                <a:cs typeface="Times New Roman" panose="02020603050405020304" pitchFamily="18" charset="0"/>
              </a:rPr>
              <a:t> by adding more interactive graphs and advanced comparison tools for better analysis</a:t>
            </a:r>
            <a:r>
              <a:rPr lang="en-GB" sz="2200" dirty="0" smtClean="0">
                <a:latin typeface="Times New Roman" panose="02020603050405020304" pitchFamily="18" charset="0"/>
                <a:cs typeface="Times New Roman" panose="02020603050405020304" pitchFamily="18" charset="0"/>
              </a:rPr>
              <a:t>.</a:t>
            </a:r>
          </a:p>
          <a:p>
            <a:pPr marL="228600" lvl="0" indent="-228600">
              <a:spcBef>
                <a:spcPts val="300"/>
              </a:spcBef>
              <a:buSzPts val="2000"/>
            </a:pPr>
            <a:endParaRPr lang="en-GB" sz="2200" dirty="0">
              <a:solidFill>
                <a:srgbClr val="000000"/>
              </a:solidFill>
              <a:latin typeface="Times New Roman" panose="02020603050405020304" pitchFamily="18" charset="0"/>
              <a:ea typeface="Cambria"/>
              <a:cs typeface="Times New Roman" panose="02020603050405020304" pitchFamily="18" charset="0"/>
              <a:sym typeface="Cambria"/>
            </a:endParaRPr>
          </a:p>
          <a:p>
            <a:pPr marL="228600" lvl="0" indent="-228600">
              <a:spcBef>
                <a:spcPts val="300"/>
              </a:spcBef>
              <a:buSzPts val="2000"/>
            </a:pPr>
            <a:r>
              <a:rPr lang="en-GB" sz="2200" dirty="0">
                <a:latin typeface="Times New Roman" panose="02020603050405020304" pitchFamily="18" charset="0"/>
                <a:cs typeface="Times New Roman" panose="02020603050405020304" pitchFamily="18" charset="0"/>
              </a:rPr>
              <a:t>Implementation of </a:t>
            </a:r>
            <a:r>
              <a:rPr lang="en-GB" sz="2200" b="1" dirty="0">
                <a:latin typeface="Times New Roman" panose="02020603050405020304" pitchFamily="18" charset="0"/>
                <a:cs typeface="Times New Roman" panose="02020603050405020304" pitchFamily="18" charset="0"/>
              </a:rPr>
              <a:t>mobile application support</a:t>
            </a:r>
            <a:r>
              <a:rPr lang="en-GB" sz="2200" dirty="0">
                <a:latin typeface="Times New Roman" panose="02020603050405020304" pitchFamily="18" charset="0"/>
                <a:cs typeface="Times New Roman" panose="02020603050405020304" pitchFamily="18" charset="0"/>
              </a:rPr>
              <a:t> to provide easy access to the dashboard for users and administrators anytime</a:t>
            </a:r>
            <a:r>
              <a:rPr lang="en-GB" sz="2200" dirty="0" smtClean="0">
                <a:latin typeface="Times New Roman" panose="02020603050405020304" pitchFamily="18" charset="0"/>
                <a:cs typeface="Times New Roman" panose="02020603050405020304" pitchFamily="18" charset="0"/>
              </a:rPr>
              <a:t>.</a:t>
            </a:r>
          </a:p>
          <a:p>
            <a:pPr marL="228600" lvl="0" indent="-228600">
              <a:spcBef>
                <a:spcPts val="300"/>
              </a:spcBef>
              <a:buSzPts val="2000"/>
            </a:pPr>
            <a:endParaRPr lang="en-GB" sz="2200" dirty="0">
              <a:solidFill>
                <a:srgbClr val="000000"/>
              </a:solidFill>
              <a:latin typeface="Times New Roman" panose="02020603050405020304" pitchFamily="18" charset="0"/>
              <a:ea typeface="Cambria"/>
              <a:cs typeface="Times New Roman" panose="02020603050405020304" pitchFamily="18" charset="0"/>
              <a:sym typeface="Cambria"/>
            </a:endParaRPr>
          </a:p>
          <a:p>
            <a:pPr marL="228600" lvl="0" indent="-228600">
              <a:spcBef>
                <a:spcPts val="300"/>
              </a:spcBef>
              <a:buSzPts val="2000"/>
            </a:pPr>
            <a:r>
              <a:rPr lang="en-GB" sz="2200" dirty="0">
                <a:latin typeface="Times New Roman" panose="02020603050405020304" pitchFamily="18" charset="0"/>
                <a:cs typeface="Times New Roman" panose="02020603050405020304" pitchFamily="18" charset="0"/>
              </a:rPr>
              <a:t>Deployment and testing of the system on a </a:t>
            </a:r>
            <a:r>
              <a:rPr lang="en-GB" sz="2200" b="1" dirty="0">
                <a:latin typeface="Times New Roman" panose="02020603050405020304" pitchFamily="18" charset="0"/>
                <a:cs typeface="Times New Roman" panose="02020603050405020304" pitchFamily="18" charset="0"/>
              </a:rPr>
              <a:t>cloud platform</a:t>
            </a:r>
            <a:r>
              <a:rPr lang="en-GB" sz="2200" dirty="0">
                <a:latin typeface="Times New Roman" panose="02020603050405020304" pitchFamily="18" charset="0"/>
                <a:cs typeface="Times New Roman" panose="02020603050405020304" pitchFamily="18" charset="0"/>
              </a:rPr>
              <a:t> to ensure scalability, performance optimization, and real-world usability.</a:t>
            </a:r>
            <a:endParaRPr sz="2200" dirty="0">
              <a:solidFill>
                <a:srgbClr val="000000"/>
              </a:solidFill>
              <a:latin typeface="Times New Roman" panose="02020603050405020304" pitchFamily="18" charset="0"/>
              <a:ea typeface="Cambria"/>
              <a:cs typeface="Times New Roman" panose="02020603050405020304" pitchFamily="18" charset="0"/>
              <a:sym typeface="Cambria"/>
            </a:endParaRPr>
          </a:p>
        </p:txBody>
      </p:sp>
      <p:sp>
        <p:nvSpPr>
          <p:cNvPr id="191" name="Google Shape;191;p25"/>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0070C0"/>
              </a:buClr>
              <a:buSzPts val="2400"/>
              <a:buFont typeface="Cambria"/>
              <a:buNone/>
            </a:pPr>
            <a:r>
              <a:rPr lang="en-US" sz="2400" b="1" dirty="0">
                <a:solidFill>
                  <a:srgbClr val="0070C0"/>
                </a:solidFill>
                <a:latin typeface="Cambria"/>
                <a:ea typeface="Cambria"/>
                <a:cs typeface="Cambria"/>
                <a:sym typeface="Cambria"/>
              </a:rPr>
              <a:t>PENDING WORKS AND PLAN FOR COMPLETION  </a:t>
            </a:r>
            <a:endParaRPr sz="2400" b="1" dirty="0">
              <a:solidFill>
                <a:srgbClr val="0070C0"/>
              </a:solidFill>
              <a:latin typeface="Cambria"/>
              <a:ea typeface="Cambria"/>
              <a:cs typeface="Cambria"/>
              <a:sym typeface="Cambria"/>
            </a:endParaRPr>
          </a:p>
        </p:txBody>
      </p:sp>
      <p:sp>
        <p:nvSpPr>
          <p:cNvPr id="192" name="Google Shape;192;p2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rgbClr val="385623"/>
                </a:solidFill>
              </a:rPr>
              <a:t>13</a:t>
            </a:fld>
            <a:endParaRPr sz="1800" b="1">
              <a:solidFill>
                <a:srgbClr val="385623"/>
              </a:solidFill>
            </a:endParaRPr>
          </a:p>
        </p:txBody>
      </p:sp>
      <p:sp>
        <p:nvSpPr>
          <p:cNvPr id="193" name="Google Shape;193;p2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a:solidFill>
                  <a:srgbClr val="385623"/>
                </a:solidFill>
              </a:rPr>
              <a:t>FINAL REVIEW PRESENTATION</a:t>
            </a:r>
            <a:endParaRPr sz="1800" b="1">
              <a:solidFill>
                <a:srgbClr val="385623"/>
              </a:solidFill>
            </a:endParaRPr>
          </a:p>
        </p:txBody>
      </p:sp>
      <p:sp>
        <p:nvSpPr>
          <p:cNvPr id="194" name="Google Shape;194;p2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800" b="1" dirty="0" smtClean="0">
                <a:solidFill>
                  <a:srgbClr val="385623"/>
                </a:solidFill>
              </a:rPr>
              <a:t>21-04-2026</a:t>
            </a:r>
            <a:endParaRPr sz="1800" b="1" dirty="0">
              <a:solidFill>
                <a:srgbClr val="385623"/>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6"/>
          <p:cNvSpPr txBox="1">
            <a:spLocks noGrp="1"/>
          </p:cNvSpPr>
          <p:nvPr>
            <p:ph type="title"/>
          </p:nvPr>
        </p:nvSpPr>
        <p:spPr>
          <a:xfrm>
            <a:off x="512100" y="162076"/>
            <a:ext cx="11167800" cy="5819700"/>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ctr" anchorCtr="0">
            <a:normAutofit/>
          </a:bodyPr>
          <a:lstStyle/>
          <a:p>
            <a:pPr marL="228600" lvl="0" indent="-228600" algn="l" rtl="0">
              <a:lnSpc>
                <a:spcPct val="90000"/>
              </a:lnSpc>
              <a:spcBef>
                <a:spcPts val="800"/>
              </a:spcBef>
              <a:spcAft>
                <a:spcPts val="0"/>
              </a:spcAft>
              <a:buClr>
                <a:schemeClr val="dk1"/>
              </a:buClr>
              <a:buSzPts val="2000"/>
              <a:buNone/>
            </a:pPr>
            <a:r>
              <a:rPr lang="en-US" sz="2000" b="1" dirty="0">
                <a:solidFill>
                  <a:srgbClr val="C00000"/>
                </a:solidFill>
                <a:latin typeface="Cambria"/>
                <a:ea typeface="Cambria"/>
                <a:cs typeface="Cambria"/>
                <a:sym typeface="Cambria"/>
              </a:rPr>
              <a:t>Architecture Comparison </a:t>
            </a:r>
            <a:r>
              <a:rPr lang="en-US" sz="2000" b="1" dirty="0" smtClean="0">
                <a:solidFill>
                  <a:srgbClr val="C00000"/>
                </a:solidFill>
                <a:latin typeface="Cambria"/>
                <a:ea typeface="Cambria"/>
                <a:cs typeface="Cambria"/>
                <a:sym typeface="Cambria"/>
              </a:rPr>
              <a:t>Summary</a:t>
            </a:r>
            <a:r>
              <a:rPr lang="en-US" sz="2000" dirty="0" smtClean="0">
                <a:solidFill>
                  <a:srgbClr val="000000"/>
                </a:solidFill>
                <a:latin typeface="Cambria"/>
                <a:ea typeface="Cambria"/>
                <a:cs typeface="Cambria"/>
                <a:sym typeface="Cambria"/>
              </a:rPr>
              <a:t/>
            </a:r>
            <a:br>
              <a:rPr lang="en-US" sz="2000" dirty="0" smtClean="0">
                <a:solidFill>
                  <a:srgbClr val="000000"/>
                </a:solidFill>
                <a:latin typeface="Cambria"/>
                <a:ea typeface="Cambria"/>
                <a:cs typeface="Cambria"/>
                <a:sym typeface="Cambria"/>
              </a:rPr>
            </a:br>
            <a:r>
              <a:rPr lang="en-GB" sz="2000" dirty="0">
                <a:latin typeface="Times New Roman" panose="02020603050405020304" pitchFamily="18" charset="0"/>
                <a:cs typeface="Times New Roman" panose="02020603050405020304" pitchFamily="18" charset="0"/>
              </a:rPr>
              <a:t>A </a:t>
            </a:r>
            <a:r>
              <a:rPr lang="en-GB" sz="2000" b="1" dirty="0">
                <a:latin typeface="Times New Roman" panose="02020603050405020304" pitchFamily="18" charset="0"/>
                <a:cs typeface="Times New Roman" panose="02020603050405020304" pitchFamily="18" charset="0"/>
              </a:rPr>
              <a:t>three-tier web architecture (React + Flask + MongoDB)</a:t>
            </a:r>
            <a:r>
              <a:rPr lang="en-GB" sz="2000" dirty="0">
                <a:latin typeface="Times New Roman" panose="02020603050405020304" pitchFamily="18" charset="0"/>
                <a:cs typeface="Times New Roman" panose="02020603050405020304" pitchFamily="18" charset="0"/>
              </a:rPr>
              <a:t> was selected over complex </a:t>
            </a:r>
            <a:r>
              <a:rPr lang="en-GB" sz="2000" dirty="0" err="1">
                <a:latin typeface="Times New Roman" panose="02020603050405020304" pitchFamily="18" charset="0"/>
                <a:cs typeface="Times New Roman" panose="02020603050405020304" pitchFamily="18" charset="0"/>
              </a:rPr>
              <a:t>microservices</a:t>
            </a:r>
            <a:r>
              <a:rPr lang="en-GB" sz="2000" dirty="0">
                <a:latin typeface="Times New Roman" panose="02020603050405020304" pitchFamily="18" charset="0"/>
                <a:cs typeface="Times New Roman" panose="02020603050405020304" pitchFamily="18" charset="0"/>
              </a:rPr>
              <a:t> architecture, as it is optimal for the project’s limited scope, small dataset, and academic timeline while ensuring simplicity, maintainability, and efficient development.</a:t>
            </a:r>
            <a:endParaRPr sz="2000" dirty="0">
              <a:latin typeface="Times New Roman" panose="02020603050405020304" pitchFamily="18" charset="0"/>
              <a:cs typeface="Times New Roman" panose="02020603050405020304" pitchFamily="18" charset="0"/>
            </a:endParaRPr>
          </a:p>
          <a:p>
            <a:pPr marL="228600" lvl="0" indent="-228600">
              <a:spcBef>
                <a:spcPts val="800"/>
              </a:spcBef>
              <a:buSzPts val="2000"/>
            </a:pPr>
            <a:r>
              <a:rPr lang="en-US" sz="2000" b="1" dirty="0" smtClean="0">
                <a:solidFill>
                  <a:srgbClr val="C00000"/>
                </a:solidFill>
                <a:latin typeface="Cambria"/>
                <a:ea typeface="Cambria"/>
                <a:cs typeface="Cambria"/>
                <a:sym typeface="Cambria"/>
              </a:rPr>
              <a:t>Tech Stack Comparison Summary</a:t>
            </a:r>
            <a:br>
              <a:rPr lang="en-US" sz="2000" b="1" dirty="0" smtClean="0">
                <a:solidFill>
                  <a:srgbClr val="C00000"/>
                </a:solidFill>
                <a:latin typeface="Cambria"/>
                <a:ea typeface="Cambria"/>
                <a:cs typeface="Cambria"/>
                <a:sym typeface="Cambria"/>
              </a:rPr>
            </a:br>
            <a:r>
              <a:rPr lang="en-IN" sz="2000" dirty="0">
                <a:latin typeface="Times New Roman" panose="02020603050405020304" pitchFamily="18" charset="0"/>
                <a:cs typeface="Times New Roman" panose="02020603050405020304" pitchFamily="18" charset="0"/>
              </a:rPr>
              <a:t>The </a:t>
            </a:r>
            <a:r>
              <a:rPr lang="en-IN" sz="2000" b="1" dirty="0">
                <a:latin typeface="Times New Roman" panose="02020603050405020304" pitchFamily="18" charset="0"/>
                <a:cs typeface="Times New Roman" panose="02020603050405020304" pitchFamily="18" charset="0"/>
              </a:rPr>
              <a:t>React–Flask–MongoDB stack</a:t>
            </a:r>
            <a:r>
              <a:rPr lang="en-IN" sz="2000" dirty="0">
                <a:latin typeface="Times New Roman" panose="02020603050405020304" pitchFamily="18" charset="0"/>
                <a:cs typeface="Times New Roman" panose="02020603050405020304" pitchFamily="18" charset="0"/>
              </a:rPr>
              <a:t> was chosen over traditional stacks like LAMP due to </a:t>
            </a:r>
            <a:r>
              <a:rPr lang="en-IN" sz="2000" dirty="0" err="1">
                <a:latin typeface="Times New Roman" panose="02020603050405020304" pitchFamily="18" charset="0"/>
                <a:cs typeface="Times New Roman" panose="02020603050405020304" pitchFamily="18" charset="0"/>
              </a:rPr>
              <a:t>React’s</a:t>
            </a:r>
            <a:r>
              <a:rPr lang="en-IN" sz="2000" dirty="0">
                <a:latin typeface="Times New Roman" panose="02020603050405020304" pitchFamily="18" charset="0"/>
                <a:cs typeface="Times New Roman" panose="02020603050405020304" pitchFamily="18" charset="0"/>
              </a:rPr>
              <a:t> dynamic UI capabilities, Flask’s lightweight and flexible backend processing, and MongoDB’s ability to handle unstructured environmental data efficiently, enabling seamless integration and faster development.</a:t>
            </a:r>
            <a:endParaRPr sz="2000" dirty="0" smtClean="0">
              <a:latin typeface="Times New Roman" panose="02020603050405020304" pitchFamily="18" charset="0"/>
              <a:cs typeface="Times New Roman" panose="02020603050405020304" pitchFamily="18" charset="0"/>
            </a:endParaRPr>
          </a:p>
          <a:p>
            <a:pPr marL="228600" lvl="0" indent="-228600">
              <a:spcBef>
                <a:spcPts val="800"/>
              </a:spcBef>
              <a:buSzPts val="2000"/>
            </a:pPr>
            <a:r>
              <a:rPr lang="en-US" sz="2000" b="1" dirty="0" smtClean="0">
                <a:solidFill>
                  <a:srgbClr val="C00000"/>
                </a:solidFill>
                <a:latin typeface="Cambria"/>
                <a:ea typeface="Cambria"/>
                <a:cs typeface="Cambria"/>
                <a:sym typeface="Cambria"/>
              </a:rPr>
              <a:t>System </a:t>
            </a:r>
            <a:r>
              <a:rPr lang="en-US" sz="2000" b="1" dirty="0">
                <a:solidFill>
                  <a:srgbClr val="C00000"/>
                </a:solidFill>
                <a:latin typeface="Cambria"/>
                <a:ea typeface="Cambria"/>
                <a:cs typeface="Cambria"/>
                <a:sym typeface="Cambria"/>
              </a:rPr>
              <a:t>Performance </a:t>
            </a:r>
            <a:r>
              <a:rPr lang="en-US" sz="2000" b="1" dirty="0" smtClean="0">
                <a:solidFill>
                  <a:srgbClr val="C00000"/>
                </a:solidFill>
                <a:latin typeface="Cambria"/>
                <a:ea typeface="Cambria"/>
                <a:cs typeface="Cambria"/>
                <a:sym typeface="Cambria"/>
              </a:rPr>
              <a:t>Metrics</a:t>
            </a:r>
            <a:br>
              <a:rPr lang="en-US" sz="2000" b="1" dirty="0" smtClean="0">
                <a:solidFill>
                  <a:srgbClr val="C00000"/>
                </a:solidFill>
                <a:latin typeface="Cambria"/>
                <a:ea typeface="Cambria"/>
                <a:cs typeface="Cambria"/>
                <a:sym typeface="Cambria"/>
              </a:rPr>
            </a:br>
            <a:r>
              <a:rPr lang="en-GB" sz="2000" dirty="0">
                <a:latin typeface="Times New Roman" panose="02020603050405020304" pitchFamily="18" charset="0"/>
                <a:cs typeface="Times New Roman" panose="02020603050405020304" pitchFamily="18" charset="0"/>
              </a:rPr>
              <a:t>Dashboard data loading and visualization occur in </a:t>
            </a:r>
            <a:r>
              <a:rPr lang="en-GB" sz="2000" b="1" dirty="0">
                <a:latin typeface="Times New Roman" panose="02020603050405020304" pitchFamily="18" charset="0"/>
                <a:cs typeface="Times New Roman" panose="02020603050405020304" pitchFamily="18" charset="0"/>
              </a:rPr>
              <a:t>real-time with minimal delay</a:t>
            </a:r>
            <a:r>
              <a:rPr lang="en-GB" sz="2000" dirty="0">
                <a:latin typeface="Times New Roman" panose="02020603050405020304" pitchFamily="18" charset="0"/>
                <a:cs typeface="Times New Roman" panose="02020603050405020304" pitchFamily="18" charset="0"/>
              </a:rPr>
              <a:t>; Green Score calculation and alert generation are processed instantly at the backend, and MongoDB operations ensure fast data retrieval and updates for smooth system performance.</a:t>
            </a:r>
            <a:endParaRPr sz="2000" dirty="0">
              <a:latin typeface="Times New Roman" panose="02020603050405020304" pitchFamily="18" charset="0"/>
              <a:cs typeface="Times New Roman" panose="02020603050405020304" pitchFamily="18" charset="0"/>
            </a:endParaRPr>
          </a:p>
          <a:p>
            <a:pPr marL="228600" lvl="0" indent="-228600">
              <a:spcBef>
                <a:spcPts val="800"/>
              </a:spcBef>
              <a:buSzPts val="2000"/>
            </a:pPr>
            <a:r>
              <a:rPr lang="en-US" sz="2000" b="1" dirty="0" smtClean="0">
                <a:solidFill>
                  <a:srgbClr val="C00000"/>
                </a:solidFill>
                <a:latin typeface="Cambria"/>
                <a:ea typeface="Cambria"/>
                <a:cs typeface="Cambria"/>
                <a:sym typeface="Cambria"/>
              </a:rPr>
              <a:t>Scalability</a:t>
            </a:r>
            <a:br>
              <a:rPr lang="en-US" sz="2000" b="1" dirty="0" smtClean="0">
                <a:solidFill>
                  <a:srgbClr val="C00000"/>
                </a:solidFill>
                <a:latin typeface="Cambria"/>
                <a:ea typeface="Cambria"/>
                <a:cs typeface="Cambria"/>
                <a:sym typeface="Cambria"/>
              </a:rPr>
            </a:br>
            <a:r>
              <a:rPr lang="en-GB" sz="2000" dirty="0">
                <a:latin typeface="Times New Roman" panose="02020603050405020304" pitchFamily="18" charset="0"/>
                <a:cs typeface="Times New Roman" panose="02020603050405020304" pitchFamily="18" charset="0"/>
              </a:rPr>
              <a:t>The system is designed to scale from a </a:t>
            </a:r>
            <a:r>
              <a:rPr lang="en-GB" sz="2000" b="1" dirty="0">
                <a:latin typeface="Times New Roman" panose="02020603050405020304" pitchFamily="18" charset="0"/>
                <a:cs typeface="Times New Roman" panose="02020603050405020304" pitchFamily="18" charset="0"/>
              </a:rPr>
              <a:t>single campus to multiple institutions</a:t>
            </a:r>
            <a:r>
              <a:rPr lang="en-GB" sz="2000" dirty="0">
                <a:latin typeface="Times New Roman" panose="02020603050405020304" pitchFamily="18" charset="0"/>
                <a:cs typeface="Times New Roman" panose="02020603050405020304" pitchFamily="18" charset="0"/>
              </a:rPr>
              <a:t> without major architectural changes, supported by MongoDB scalability, modular design, and API-based communication, allowing future expansion with </a:t>
            </a:r>
            <a:r>
              <a:rPr lang="en-GB" sz="2000" dirty="0" err="1">
                <a:latin typeface="Times New Roman" panose="02020603050405020304" pitchFamily="18" charset="0"/>
                <a:cs typeface="Times New Roman" panose="02020603050405020304" pitchFamily="18" charset="0"/>
              </a:rPr>
              <a:t>IoT</a:t>
            </a:r>
            <a:r>
              <a:rPr lang="en-GB" sz="2000" dirty="0">
                <a:latin typeface="Times New Roman" panose="02020603050405020304" pitchFamily="18" charset="0"/>
                <a:cs typeface="Times New Roman" panose="02020603050405020304" pitchFamily="18" charset="0"/>
              </a:rPr>
              <a:t> integration and cloud deployment.</a:t>
            </a:r>
            <a:endParaRPr sz="2000" dirty="0">
              <a:latin typeface="Times New Roman" panose="02020603050405020304" pitchFamily="18" charset="0"/>
              <a:cs typeface="Times New Roman" panose="02020603050405020304" pitchFamily="18" charset="0"/>
            </a:endParaRPr>
          </a:p>
        </p:txBody>
      </p:sp>
      <p:sp>
        <p:nvSpPr>
          <p:cNvPr id="200" name="Google Shape;200;p26"/>
          <p:cNvSpPr txBox="1">
            <a:spLocks noGrp="1"/>
          </p:cNvSpPr>
          <p:nvPr>
            <p:ph type="title"/>
          </p:nvPr>
        </p:nvSpPr>
        <p:spPr>
          <a:xfrm>
            <a:off x="788950" y="229689"/>
            <a:ext cx="10515600" cy="647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70C0"/>
              </a:buClr>
              <a:buSzPts val="2400"/>
              <a:buFont typeface="Cambria"/>
              <a:buNone/>
            </a:pPr>
            <a:r>
              <a:rPr lang="en-US" sz="2400" b="1" dirty="0">
                <a:solidFill>
                  <a:srgbClr val="0070C0"/>
                </a:solidFill>
                <a:latin typeface="Cambria"/>
                <a:ea typeface="Cambria"/>
                <a:cs typeface="Cambria"/>
                <a:sym typeface="Cambria"/>
              </a:rPr>
              <a:t>Any Other Relevant Details</a:t>
            </a:r>
            <a:endParaRPr sz="2400" b="1" dirty="0">
              <a:solidFill>
                <a:srgbClr val="0070C0"/>
              </a:solidFill>
              <a:latin typeface="Cambria"/>
              <a:ea typeface="Cambria"/>
              <a:cs typeface="Cambria"/>
              <a:sym typeface="Cambria"/>
            </a:endParaRPr>
          </a:p>
          <a:p>
            <a:pPr marL="0" marR="0" lvl="0" indent="0" algn="ctr" rtl="0">
              <a:lnSpc>
                <a:spcPct val="90000"/>
              </a:lnSpc>
              <a:spcBef>
                <a:spcPts val="0"/>
              </a:spcBef>
              <a:spcAft>
                <a:spcPts val="0"/>
              </a:spcAft>
              <a:buClr>
                <a:srgbClr val="0070C0"/>
              </a:buClr>
              <a:buSzPts val="2400"/>
              <a:buFont typeface="Cambria"/>
              <a:buNone/>
            </a:pPr>
            <a:endParaRPr sz="2400" b="1" dirty="0">
              <a:solidFill>
                <a:srgbClr val="0070C0"/>
              </a:solidFill>
              <a:latin typeface="Cambria"/>
              <a:ea typeface="Cambria"/>
              <a:cs typeface="Cambria"/>
              <a:sym typeface="Cambria"/>
            </a:endParaRPr>
          </a:p>
        </p:txBody>
      </p:sp>
      <p:sp>
        <p:nvSpPr>
          <p:cNvPr id="201" name="Google Shape;201;p2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rgbClr val="385623"/>
                </a:solidFill>
              </a:rPr>
              <a:t>14</a:t>
            </a:fld>
            <a:endParaRPr sz="1800" b="1">
              <a:solidFill>
                <a:srgbClr val="385623"/>
              </a:solidFill>
            </a:endParaRPr>
          </a:p>
        </p:txBody>
      </p:sp>
      <p:sp>
        <p:nvSpPr>
          <p:cNvPr id="202" name="Google Shape;202;p2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a:solidFill>
                  <a:srgbClr val="385623"/>
                </a:solidFill>
              </a:rPr>
              <a:t>FINAL REVIEW PRESENTATION</a:t>
            </a:r>
            <a:endParaRPr sz="1800" b="1">
              <a:solidFill>
                <a:srgbClr val="385623"/>
              </a:solidFill>
            </a:endParaRPr>
          </a:p>
        </p:txBody>
      </p:sp>
      <p:sp>
        <p:nvSpPr>
          <p:cNvPr id="203" name="Google Shape;203;p2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800" b="1" dirty="0" smtClean="0">
                <a:solidFill>
                  <a:srgbClr val="385623"/>
                </a:solidFill>
              </a:rPr>
              <a:t>21-04-2026</a:t>
            </a:r>
            <a:endParaRPr sz="1800" b="1" dirty="0">
              <a:solidFill>
                <a:srgbClr val="385623"/>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7"/>
          <p:cNvSpPr txBox="1">
            <a:spLocks noGrp="1"/>
          </p:cNvSpPr>
          <p:nvPr>
            <p:ph type="body" idx="1"/>
          </p:nvPr>
        </p:nvSpPr>
        <p:spPr>
          <a:xfrm>
            <a:off x="752425" y="862275"/>
            <a:ext cx="10921200" cy="5285100"/>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800"/>
              <a:buNone/>
            </a:pPr>
            <a:r>
              <a:rPr lang="en-US" sz="2000" b="1" dirty="0">
                <a:solidFill>
                  <a:srgbClr val="C00000"/>
                </a:solidFill>
                <a:latin typeface="Cambria"/>
                <a:ea typeface="Cambria"/>
                <a:cs typeface="Cambria"/>
                <a:sym typeface="Cambria"/>
              </a:rPr>
              <a:t>Journal </a:t>
            </a:r>
            <a:r>
              <a:rPr lang="en-US" sz="2000" b="1" dirty="0" smtClean="0">
                <a:solidFill>
                  <a:srgbClr val="C00000"/>
                </a:solidFill>
                <a:latin typeface="Cambria"/>
                <a:ea typeface="Cambria"/>
                <a:cs typeface="Cambria"/>
                <a:sym typeface="Cambria"/>
              </a:rPr>
              <a:t>Papers</a:t>
            </a:r>
          </a:p>
          <a:p>
            <a:pPr marL="0" lvl="0" indent="0" algn="l" rtl="0">
              <a:lnSpc>
                <a:spcPct val="90000"/>
              </a:lnSpc>
              <a:spcBef>
                <a:spcPts val="0"/>
              </a:spcBef>
              <a:spcAft>
                <a:spcPts val="0"/>
              </a:spcAft>
              <a:buSzPts val="1800"/>
              <a:buNone/>
            </a:pPr>
            <a:endParaRPr lang="en-US" sz="2000" b="1" dirty="0" smtClean="0">
              <a:solidFill>
                <a:srgbClr val="C00000"/>
              </a:solidFill>
              <a:latin typeface="Cambria"/>
              <a:ea typeface="Cambria"/>
              <a:cs typeface="Cambria"/>
              <a:sym typeface="Cambria"/>
            </a:endParaRPr>
          </a:p>
          <a:p>
            <a:r>
              <a:rPr lang="en-IN" sz="2000" b="1" dirty="0">
                <a:latin typeface="Times New Roman" panose="02020603050405020304" pitchFamily="18" charset="0"/>
                <a:cs typeface="Times New Roman" panose="02020603050405020304" pitchFamily="18" charset="0"/>
              </a:rPr>
              <a:t>[1]</a:t>
            </a:r>
            <a:r>
              <a:rPr lang="en-IN" sz="2000" dirty="0">
                <a:latin typeface="Times New Roman" panose="02020603050405020304" pitchFamily="18" charset="0"/>
                <a:cs typeface="Times New Roman" panose="02020603050405020304" pitchFamily="18" charset="0"/>
              </a:rPr>
              <a:t> A. Raj, S. Kumar, </a:t>
            </a:r>
            <a:r>
              <a:rPr lang="en-IN" sz="2000" i="1" dirty="0">
                <a:latin typeface="Times New Roman" panose="02020603050405020304" pitchFamily="18" charset="0"/>
                <a:cs typeface="Times New Roman" panose="02020603050405020304" pitchFamily="18" charset="0"/>
              </a:rPr>
              <a:t>"Smart Campus Monitoring System Using </a:t>
            </a:r>
            <a:r>
              <a:rPr lang="en-IN" sz="2000" i="1" dirty="0" err="1">
                <a:latin typeface="Times New Roman" panose="02020603050405020304" pitchFamily="18" charset="0"/>
                <a:cs typeface="Times New Roman" panose="02020603050405020304" pitchFamily="18" charset="0"/>
              </a:rPr>
              <a:t>IoT</a:t>
            </a:r>
            <a:r>
              <a:rPr lang="en-IN" sz="2000" i="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International Journal of Engineering Research &amp; Technology (IJERT), vol. 9, no. 5, pp. 120-126, 2020.</a:t>
            </a:r>
          </a:p>
          <a:p>
            <a:r>
              <a:rPr lang="en-IN" sz="2000" b="1" dirty="0">
                <a:latin typeface="Times New Roman" panose="02020603050405020304" pitchFamily="18" charset="0"/>
                <a:cs typeface="Times New Roman" panose="02020603050405020304" pitchFamily="18" charset="0"/>
              </a:rPr>
              <a:t>[2]</a:t>
            </a:r>
            <a:r>
              <a:rPr lang="en-IN" sz="2000" dirty="0">
                <a:latin typeface="Times New Roman" panose="02020603050405020304" pitchFamily="18" charset="0"/>
                <a:cs typeface="Times New Roman" panose="02020603050405020304" pitchFamily="18" charset="0"/>
              </a:rPr>
              <a:t> S. Patel, M. Shah, </a:t>
            </a:r>
            <a:r>
              <a:rPr lang="en-IN" sz="2000" i="1" dirty="0">
                <a:latin typeface="Times New Roman" panose="02020603050405020304" pitchFamily="18" charset="0"/>
                <a:cs typeface="Times New Roman" panose="02020603050405020304" pitchFamily="18" charset="0"/>
              </a:rPr>
              <a:t>"Web-Based Environmental Monitoring Dashboard,"</a:t>
            </a:r>
            <a:r>
              <a:rPr lang="en-IN" sz="2000" dirty="0">
                <a:latin typeface="Times New Roman" panose="02020603050405020304" pitchFamily="18" charset="0"/>
                <a:cs typeface="Times New Roman" panose="02020603050405020304" pitchFamily="18" charset="0"/>
              </a:rPr>
              <a:t> International Journal of Computer Applications (IJCA), vol. 182, no. 10, pp. 15-22, 2018.</a:t>
            </a:r>
          </a:p>
          <a:p>
            <a:r>
              <a:rPr lang="en-IN" sz="2000" b="1" dirty="0">
                <a:latin typeface="Times New Roman" panose="02020603050405020304" pitchFamily="18" charset="0"/>
                <a:cs typeface="Times New Roman" panose="02020603050405020304" pitchFamily="18" charset="0"/>
              </a:rPr>
              <a:t>[3]</a:t>
            </a:r>
            <a:r>
              <a:rPr lang="en-IN" sz="2000" dirty="0">
                <a:latin typeface="Times New Roman" panose="02020603050405020304" pitchFamily="18" charset="0"/>
                <a:cs typeface="Times New Roman" panose="02020603050405020304" pitchFamily="18" charset="0"/>
              </a:rPr>
              <a:t> R. </a:t>
            </a:r>
            <a:r>
              <a:rPr lang="en-IN" sz="2000" dirty="0" err="1">
                <a:latin typeface="Times New Roman" panose="02020603050405020304" pitchFamily="18" charset="0"/>
                <a:cs typeface="Times New Roman" panose="02020603050405020304" pitchFamily="18" charset="0"/>
              </a:rPr>
              <a:t>Verma</a:t>
            </a:r>
            <a:r>
              <a:rPr lang="en-IN" sz="2000" dirty="0">
                <a:latin typeface="Times New Roman" panose="02020603050405020304" pitchFamily="18" charset="0"/>
                <a:cs typeface="Times New Roman" panose="02020603050405020304" pitchFamily="18" charset="0"/>
              </a:rPr>
              <a:t>, P. Singh, </a:t>
            </a:r>
            <a:r>
              <a:rPr lang="en-IN" sz="2000" i="1" dirty="0">
                <a:latin typeface="Times New Roman" panose="02020603050405020304" pitchFamily="18" charset="0"/>
                <a:cs typeface="Times New Roman" panose="02020603050405020304" pitchFamily="18" charset="0"/>
              </a:rPr>
              <a:t>"Design of Sustainable Campus Management System,"</a:t>
            </a:r>
            <a:r>
              <a:rPr lang="en-IN" sz="2000" dirty="0">
                <a:latin typeface="Times New Roman" panose="02020603050405020304" pitchFamily="18" charset="0"/>
                <a:cs typeface="Times New Roman" panose="02020603050405020304" pitchFamily="18" charset="0"/>
              </a:rPr>
              <a:t> International Journal of Smart Systems, vol. 6, no. 2, pp. 45-53, 2021.</a:t>
            </a:r>
          </a:p>
          <a:p>
            <a:r>
              <a:rPr lang="en-IN" sz="2000" b="1" dirty="0">
                <a:latin typeface="Times New Roman" panose="02020603050405020304" pitchFamily="18" charset="0"/>
                <a:cs typeface="Times New Roman" panose="02020603050405020304" pitchFamily="18" charset="0"/>
              </a:rPr>
              <a:t>[4]</a:t>
            </a:r>
            <a:r>
              <a:rPr lang="en-IN" sz="2000" dirty="0">
                <a:latin typeface="Times New Roman" panose="02020603050405020304" pitchFamily="18" charset="0"/>
                <a:cs typeface="Times New Roman" panose="02020603050405020304" pitchFamily="18" charset="0"/>
              </a:rPr>
              <a:t> D. </a:t>
            </a:r>
            <a:r>
              <a:rPr lang="en-IN" sz="2000" dirty="0" err="1">
                <a:latin typeface="Times New Roman" panose="02020603050405020304" pitchFamily="18" charset="0"/>
                <a:cs typeface="Times New Roman" panose="02020603050405020304" pitchFamily="18" charset="0"/>
              </a:rPr>
              <a:t>Ferraiolo</a:t>
            </a:r>
            <a:r>
              <a:rPr lang="en-IN" sz="2000" dirty="0">
                <a:latin typeface="Times New Roman" panose="02020603050405020304" pitchFamily="18" charset="0"/>
                <a:cs typeface="Times New Roman" panose="02020603050405020304" pitchFamily="18" charset="0"/>
              </a:rPr>
              <a:t>, R. Sandhu, </a:t>
            </a:r>
            <a:r>
              <a:rPr lang="en-IN" sz="2000" i="1" dirty="0">
                <a:latin typeface="Times New Roman" panose="02020603050405020304" pitchFamily="18" charset="0"/>
                <a:cs typeface="Times New Roman" panose="02020603050405020304" pitchFamily="18" charset="0"/>
              </a:rPr>
              <a:t>"Role-Based Access Control Models,"</a:t>
            </a:r>
            <a:r>
              <a:rPr lang="en-IN" sz="2000" dirty="0">
                <a:latin typeface="Times New Roman" panose="02020603050405020304" pitchFamily="18" charset="0"/>
                <a:cs typeface="Times New Roman" panose="02020603050405020304" pitchFamily="18" charset="0"/>
              </a:rPr>
              <a:t> IEEE Transactions on Information and System Security, vol. 4, no. 3, pp. 224-274, 2001.</a:t>
            </a:r>
          </a:p>
          <a:p>
            <a:r>
              <a:rPr lang="en-IN" sz="2000" b="1" dirty="0">
                <a:latin typeface="Times New Roman" panose="02020603050405020304" pitchFamily="18" charset="0"/>
                <a:cs typeface="Times New Roman" panose="02020603050405020304" pitchFamily="18" charset="0"/>
              </a:rPr>
              <a:t>[5]</a:t>
            </a:r>
            <a:r>
              <a:rPr lang="en-IN" sz="2000" dirty="0">
                <a:latin typeface="Times New Roman" panose="02020603050405020304" pitchFamily="18" charset="0"/>
                <a:cs typeface="Times New Roman" panose="02020603050405020304" pitchFamily="18" charset="0"/>
              </a:rPr>
              <a:t> S. Few, </a:t>
            </a:r>
            <a:r>
              <a:rPr lang="en-IN" sz="2000" i="1" dirty="0">
                <a:latin typeface="Times New Roman" panose="02020603050405020304" pitchFamily="18" charset="0"/>
                <a:cs typeface="Times New Roman" panose="02020603050405020304" pitchFamily="18" charset="0"/>
              </a:rPr>
              <a:t>"Data Visualization Techniques for Decision Support Systems,"</a:t>
            </a:r>
            <a:r>
              <a:rPr lang="en-IN" sz="2000" dirty="0">
                <a:latin typeface="Times New Roman" panose="02020603050405020304" pitchFamily="18" charset="0"/>
                <a:cs typeface="Times New Roman" panose="02020603050405020304" pitchFamily="18" charset="0"/>
              </a:rPr>
              <a:t> Analytics Press, pp. 1-50, 2006.</a:t>
            </a:r>
          </a:p>
          <a:p>
            <a:r>
              <a:rPr lang="en-IN" sz="2000" b="1" dirty="0">
                <a:latin typeface="Times New Roman" panose="02020603050405020304" pitchFamily="18" charset="0"/>
                <a:cs typeface="Times New Roman" panose="02020603050405020304" pitchFamily="18" charset="0"/>
              </a:rPr>
              <a:t>[6]</a:t>
            </a:r>
            <a:r>
              <a:rPr lang="en-IN" sz="2000" dirty="0">
                <a:latin typeface="Times New Roman" panose="02020603050405020304" pitchFamily="18" charset="0"/>
                <a:cs typeface="Times New Roman" panose="02020603050405020304" pitchFamily="18" charset="0"/>
              </a:rPr>
              <a:t> K. </a:t>
            </a:r>
            <a:r>
              <a:rPr lang="en-IN" sz="2000" dirty="0" err="1">
                <a:latin typeface="Times New Roman" panose="02020603050405020304" pitchFamily="18" charset="0"/>
                <a:cs typeface="Times New Roman" panose="02020603050405020304" pitchFamily="18" charset="0"/>
              </a:rPr>
              <a:t>Chodorow</a:t>
            </a:r>
            <a:r>
              <a:rPr lang="en-IN" sz="2000" dirty="0">
                <a:latin typeface="Times New Roman" panose="02020603050405020304" pitchFamily="18" charset="0"/>
                <a:cs typeface="Times New Roman" panose="02020603050405020304" pitchFamily="18" charset="0"/>
              </a:rPr>
              <a:t>, </a:t>
            </a:r>
            <a:r>
              <a:rPr lang="en-IN" sz="2000" i="1" dirty="0">
                <a:latin typeface="Times New Roman" panose="02020603050405020304" pitchFamily="18" charset="0"/>
                <a:cs typeface="Times New Roman" panose="02020603050405020304" pitchFamily="18" charset="0"/>
              </a:rPr>
              <a:t>"MongoDB: The Definitive Guide,"</a:t>
            </a:r>
            <a:r>
              <a:rPr lang="en-IN" sz="2000" dirty="0">
                <a:latin typeface="Times New Roman" panose="02020603050405020304" pitchFamily="18" charset="0"/>
                <a:cs typeface="Times New Roman" panose="02020603050405020304" pitchFamily="18" charset="0"/>
              </a:rPr>
              <a:t> O’Reilly Media, 3rd Edition, 2019.</a:t>
            </a:r>
          </a:p>
          <a:p>
            <a:pPr marL="0" lvl="0" indent="0" algn="l" rtl="0">
              <a:lnSpc>
                <a:spcPct val="90000"/>
              </a:lnSpc>
              <a:spcBef>
                <a:spcPts val="0"/>
              </a:spcBef>
              <a:spcAft>
                <a:spcPts val="0"/>
              </a:spcAft>
              <a:buSzPts val="1800"/>
              <a:buNone/>
            </a:pPr>
            <a:endParaRPr sz="2000" b="1" dirty="0">
              <a:solidFill>
                <a:srgbClr val="C00000"/>
              </a:solidFill>
              <a:latin typeface="Cambria"/>
              <a:ea typeface="Cambria"/>
              <a:cs typeface="Cambria"/>
              <a:sym typeface="Cambria"/>
            </a:endParaRPr>
          </a:p>
        </p:txBody>
      </p:sp>
      <p:sp>
        <p:nvSpPr>
          <p:cNvPr id="209" name="Google Shape;209;p27"/>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0070C0"/>
              </a:buClr>
              <a:buSzPts val="2400"/>
              <a:buFont typeface="Cambria"/>
              <a:buNone/>
            </a:pPr>
            <a:r>
              <a:rPr lang="en-US" sz="2400" b="1">
                <a:solidFill>
                  <a:srgbClr val="0070C0"/>
                </a:solidFill>
                <a:latin typeface="Cambria"/>
                <a:ea typeface="Cambria"/>
                <a:cs typeface="Cambria"/>
                <a:sym typeface="Cambria"/>
              </a:rPr>
              <a:t>REFERENCES</a:t>
            </a:r>
            <a:br>
              <a:rPr lang="en-US" sz="2400" b="1">
                <a:solidFill>
                  <a:srgbClr val="0070C0"/>
                </a:solidFill>
                <a:latin typeface="Cambria"/>
                <a:ea typeface="Cambria"/>
                <a:cs typeface="Cambria"/>
                <a:sym typeface="Cambria"/>
              </a:rPr>
            </a:br>
            <a:r>
              <a:rPr lang="en-US" sz="1800" b="1">
                <a:solidFill>
                  <a:srgbClr val="00B050"/>
                </a:solidFill>
                <a:latin typeface="Cambria"/>
                <a:ea typeface="Cambria"/>
                <a:cs typeface="Cambria"/>
                <a:sym typeface="Cambria"/>
              </a:rPr>
              <a:t>( Journal Papers/ Books / Website in IEEE Format )</a:t>
            </a:r>
            <a:endParaRPr sz="1800" b="1">
              <a:solidFill>
                <a:srgbClr val="00B050"/>
              </a:solidFill>
              <a:latin typeface="Cambria"/>
              <a:ea typeface="Cambria"/>
              <a:cs typeface="Cambria"/>
              <a:sym typeface="Cambria"/>
            </a:endParaRPr>
          </a:p>
        </p:txBody>
      </p:sp>
      <p:sp>
        <p:nvSpPr>
          <p:cNvPr id="210" name="Google Shape;210;p2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rgbClr val="385623"/>
                </a:solidFill>
              </a:rPr>
              <a:t>15</a:t>
            </a:fld>
            <a:endParaRPr sz="1800" b="1">
              <a:solidFill>
                <a:srgbClr val="385623"/>
              </a:solidFill>
            </a:endParaRPr>
          </a:p>
        </p:txBody>
      </p:sp>
      <p:sp>
        <p:nvSpPr>
          <p:cNvPr id="211" name="Google Shape;211;p2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a:solidFill>
                  <a:srgbClr val="385623"/>
                </a:solidFill>
              </a:rPr>
              <a:t>FINAL REVIEW PRESENTATION</a:t>
            </a:r>
            <a:endParaRPr sz="1800" b="1">
              <a:solidFill>
                <a:srgbClr val="385623"/>
              </a:solidFill>
            </a:endParaRPr>
          </a:p>
        </p:txBody>
      </p:sp>
      <p:sp>
        <p:nvSpPr>
          <p:cNvPr id="212" name="Google Shape;212;p2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800" b="1" dirty="0" smtClean="0">
                <a:solidFill>
                  <a:srgbClr val="385623"/>
                </a:solidFill>
              </a:rPr>
              <a:t>21-04-2026</a:t>
            </a:r>
            <a:endParaRPr sz="1800" b="1" dirty="0">
              <a:solidFill>
                <a:srgbClr val="385623"/>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8"/>
          <p:cNvSpPr txBox="1">
            <a:spLocks noGrp="1"/>
          </p:cNvSpPr>
          <p:nvPr>
            <p:ph type="body" idx="1"/>
          </p:nvPr>
        </p:nvSpPr>
        <p:spPr>
          <a:xfrm>
            <a:off x="3079500" y="2428272"/>
            <a:ext cx="6033000" cy="1957500"/>
          </a:xfrm>
          <a:prstGeom prst="rect">
            <a:avLst/>
          </a:prstGeom>
          <a:ln w="9525" cap="flat" cmpd="sng">
            <a:solidFill>
              <a:srgbClr val="C00000"/>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1000"/>
              </a:spcBef>
              <a:spcAft>
                <a:spcPts val="0"/>
              </a:spcAft>
              <a:buNone/>
            </a:pPr>
            <a:r>
              <a:rPr lang="en-US" sz="5200"/>
              <a:t>THANK YOU</a:t>
            </a:r>
            <a:endParaRPr sz="520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161</TotalTime>
  <Words>2044</Words>
  <Application>Microsoft Office PowerPoint</Application>
  <PresentationFormat>Widescreen</PresentationFormat>
  <Paragraphs>208</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Times New Roman</vt:lpstr>
      <vt:lpstr>Office Theme</vt:lpstr>
      <vt:lpstr>Academic Year 2025 - 26 S6  MINI PROJECT - II Final Review </vt:lpstr>
      <vt:lpstr>AIM &amp; OBJECTIVES OF THE PROJECT  (Problem Statement)</vt:lpstr>
      <vt:lpstr>PowerPoint Presentation</vt:lpstr>
      <vt:lpstr>PowerPoint Presentation</vt:lpstr>
      <vt:lpstr>SCOPE OF THE PROJECT</vt:lpstr>
      <vt:lpstr>NEED FOR THE CURRENT STUDY </vt:lpstr>
      <vt:lpstr>PROPOSED METHODOLOGY ( Flow Chart) </vt:lpstr>
      <vt:lpstr>PROPOSED METHODOLOGY ( Gantt Chart) </vt:lpstr>
      <vt:lpstr>CHOICE  OF  COMPONENTS  USED FOR  PROJECT DEVELOPMENT </vt:lpstr>
      <vt:lpstr>DESIGNS (SOFTWARE ARCHITECTURE) </vt:lpstr>
      <vt:lpstr>ANALYSIS OF RESULTS AND DISCUSSION</vt:lpstr>
      <vt:lpstr>CONCLUSION</vt:lpstr>
      <vt:lpstr>PENDING WORKS AND PLAN FOR COMPLETION  </vt:lpstr>
      <vt:lpstr>Architecture Comparison Summary A three-tier web architecture (React + Flask + MongoDB) was selected over complex microservices architecture, as it is optimal for the project’s limited scope, small dataset, and academic timeline while ensuring simplicity, maintainability, and efficient development. Tech Stack Comparison Summary The React–Flask–MongoDB stack was chosen over traditional stacks like LAMP due to React’s dynamic UI capabilities, Flask’s lightweight and flexible backend processing, and MongoDB’s ability to handle unstructured environmental data efficiently, enabling seamless integration and faster development. System Performance Metrics Dashboard data loading and visualization occur in real-time with minimal delay; Green Score calculation and alert generation are processed instantly at the backend, and MongoDB operations ensure fast data retrieval and updates for smooth system performance. Scalability The system is designed to scale from a single campus to multiple institutions without major architectural changes, supported by MongoDB scalability, modular design, and API-based communication, allowing future expansion with IoT integration and cloud deployment.</vt:lpstr>
      <vt:lpstr>REFERENCES ( Journal Papers/ Books / Website in IEEE Format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Academic Year 2025 - 26 S6  MINI PROJECT - II Final Review</dc:title>
  <dc:creator>HP</dc:creator>
  <cp:lastModifiedBy>HP</cp:lastModifiedBy>
  <cp:revision>11</cp:revision>
  <dcterms:modified xsi:type="dcterms:W3CDTF">2026-04-21T04:30:33Z</dcterms:modified>
</cp:coreProperties>
</file>